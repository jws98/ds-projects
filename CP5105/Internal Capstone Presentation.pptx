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Cambria Bold" panose="02040803050406030204" pitchFamily="18" charset="0"/>
      <p:regular r:id="rId22"/>
      <p:bold r:id="rId23"/>
    </p:embeddedFont>
    <p:embeddedFont>
      <p:font typeface="Codec Pro ExtraBold" pitchFamily="2" charset="0"/>
      <p:regular r:id="rId24"/>
      <p:bold r:id="rId25"/>
    </p:embeddedFont>
    <p:embeddedFont>
      <p:font typeface="Montserrat" pitchFamily="2" charset="77"/>
      <p:regular r:id="rId26"/>
      <p:bold r:id="rId27"/>
      <p:italic r:id="rId28"/>
      <p:boldItalic r:id="rId29"/>
    </p:embeddedFont>
    <p:embeddedFont>
      <p:font typeface="Montserrat Bold" pitchFamily="2" charset="77"/>
      <p:regular r:id="rId30"/>
      <p:bold r:id="rId31"/>
    </p:embeddedFont>
    <p:embeddedFont>
      <p:font typeface="Montserrat Classic" pitchFamily="2" charset="77"/>
      <p:regular r:id="rId32"/>
    </p:embeddedFont>
    <p:embeddedFont>
      <p:font typeface="Montserrat Classic Bold" pitchFamily="2" charset="77"/>
      <p:regular r:id="rId33"/>
      <p:bold r:id="rId34"/>
    </p:embeddedFont>
    <p:embeddedFont>
      <p:font typeface="Montserrat Italics" pitchFamily="2" charset="77"/>
      <p:regular r:id="rId35"/>
      <p:italic r:id="rId36"/>
    </p:embeddedFont>
    <p:embeddedFont>
      <p:font typeface="Montserrat Medium" panose="00000600000000000000" pitchFamily="2" charset="77"/>
      <p:regular r:id="rId37"/>
      <p:italic r:id="rId38"/>
    </p:embeddedFont>
    <p:embeddedFont>
      <p:font typeface="Open Sauce" pitchFamily="2" charset="77"/>
      <p:regular r:id="rId39"/>
    </p:embeddedFont>
    <p:embeddedFont>
      <p:font typeface="Open Sauce Bold" pitchFamily="2" charset="77"/>
      <p:regular r:id="rId40"/>
      <p:bold r:id="rId41"/>
    </p:embeddedFont>
    <p:embeddedFont>
      <p:font typeface="The Seasons" pitchFamily="2" charset="77"/>
      <p:regular r:id="rId42"/>
    </p:embeddedFont>
    <p:embeddedFont>
      <p:font typeface="The Seasons Bold"/>
      <p:regular r:id="rId43"/>
      <p:bold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90" autoAdjust="0"/>
  </p:normalViewPr>
  <p:slideViewPr>
    <p:cSldViewPr>
      <p:cViewPr varScale="1">
        <p:scale>
          <a:sx n="70" d="100"/>
          <a:sy n="70" d="100"/>
        </p:scale>
        <p:origin x="74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font" Target="fonts/font2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viewProps" Target="view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png"/><Relationship Id="rId7" Type="http://schemas.openxmlformats.org/officeDocument/2006/relationships/slide" Target="slide10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slide" Target="slide9.xml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5" Type="http://schemas.openxmlformats.org/officeDocument/2006/relationships/image" Target="../media/image28.jpe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7" Type="http://schemas.openxmlformats.org/officeDocument/2006/relationships/image" Target="../media/image4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slide" Target="slide12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svg"/><Relationship Id="rId4" Type="http://schemas.openxmlformats.org/officeDocument/2006/relationships/image" Target="../media/image4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3362635" y="0"/>
            <a:ext cx="4925365" cy="10287000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907877" y="905702"/>
            <a:ext cx="351423" cy="245996"/>
          </a:xfrm>
          <a:custGeom>
            <a:avLst/>
            <a:gdLst/>
            <a:ahLst/>
            <a:cxnLst/>
            <a:rect l="l" t="t" r="r" b="b"/>
            <a:pathLst>
              <a:path w="351423" h="245996">
                <a:moveTo>
                  <a:pt x="0" y="0"/>
                </a:moveTo>
                <a:lnTo>
                  <a:pt x="351423" y="0"/>
                </a:lnTo>
                <a:lnTo>
                  <a:pt x="351423" y="245996"/>
                </a:lnTo>
                <a:lnTo>
                  <a:pt x="0" y="24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0" y="948953"/>
            <a:ext cx="781050" cy="202745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833886" y="6458223"/>
            <a:ext cx="2540460" cy="0"/>
          </a:xfrm>
          <a:prstGeom prst="line">
            <a:avLst/>
          </a:prstGeom>
          <a:ln w="666750" cap="rnd">
            <a:solidFill>
              <a:srgbClr val="AB72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857295" y="6274547"/>
            <a:ext cx="386402" cy="38640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9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0" name="Freeform 10">
            <a:hlinkClick r:id="rId4" action="ppaction://hlinksldjump"/>
          </p:cNvPr>
          <p:cNvSpPr/>
          <p:nvPr/>
        </p:nvSpPr>
        <p:spPr>
          <a:xfrm>
            <a:off x="3988654" y="6361216"/>
            <a:ext cx="123684" cy="194014"/>
          </a:xfrm>
          <a:custGeom>
            <a:avLst/>
            <a:gdLst/>
            <a:ahLst/>
            <a:cxnLst/>
            <a:rect l="l" t="t" r="r" b="b"/>
            <a:pathLst>
              <a:path w="123684" h="194014">
                <a:moveTo>
                  <a:pt x="0" y="0"/>
                </a:moveTo>
                <a:lnTo>
                  <a:pt x="123684" y="0"/>
                </a:lnTo>
                <a:lnTo>
                  <a:pt x="123684" y="194014"/>
                </a:lnTo>
                <a:lnTo>
                  <a:pt x="0" y="194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496630" y="1728899"/>
            <a:ext cx="7791370" cy="7191247"/>
          </a:xfrm>
          <a:custGeom>
            <a:avLst/>
            <a:gdLst/>
            <a:ahLst/>
            <a:cxnLst/>
            <a:rect l="l" t="t" r="r" b="b"/>
            <a:pathLst>
              <a:path w="7791370" h="7191247">
                <a:moveTo>
                  <a:pt x="0" y="0"/>
                </a:moveTo>
                <a:lnTo>
                  <a:pt x="7791370" y="0"/>
                </a:lnTo>
                <a:lnTo>
                  <a:pt x="7791370" y="7191248"/>
                </a:lnTo>
                <a:lnTo>
                  <a:pt x="0" y="7191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295" b="-76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011314" y="7125675"/>
            <a:ext cx="7132686" cy="36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2"/>
              </a:lnSpc>
            </a:pPr>
            <a:r>
              <a:rPr lang="en-US" sz="2100" spc="873">
                <a:solidFill>
                  <a:srgbClr val="EF9F22"/>
                </a:solidFill>
                <a:latin typeface="Montserrat Medium"/>
              </a:rPr>
              <a:t>PRESENT BY: SHI JINGWEN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73384"/>
            <a:ext cx="4888449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The Seasons"/>
              </a:rPr>
              <a:t>Research Project Presentation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1314" y="6254007"/>
            <a:ext cx="1748549" cy="37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sz="2100">
                <a:solidFill>
                  <a:srgbClr val="FFFFFF"/>
                </a:solidFill>
                <a:latin typeface="The Seasons Bold"/>
              </a:rPr>
              <a:t>Start Slide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1314" y="2796323"/>
            <a:ext cx="9497239" cy="270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30"/>
              </a:lnSpc>
            </a:pPr>
            <a:r>
              <a:rPr lang="en-US" sz="4164">
                <a:solidFill>
                  <a:srgbClr val="EF9F22"/>
                </a:solidFill>
                <a:latin typeface="The Seasons Bold"/>
              </a:rPr>
              <a:t>Efficient Supply chain Strategy for F&amp;B chains in South East Asia</a:t>
            </a:r>
          </a:p>
          <a:p>
            <a:pPr>
              <a:lnSpc>
                <a:spcPts val="2612"/>
              </a:lnSpc>
            </a:pPr>
            <a:endParaRPr lang="en-US" sz="4164">
              <a:solidFill>
                <a:srgbClr val="EF9F22"/>
              </a:solidFill>
              <a:latin typeface="The Seasons Bold"/>
            </a:endParaRPr>
          </a:p>
          <a:p>
            <a:pPr>
              <a:lnSpc>
                <a:spcPts val="3170"/>
              </a:lnSpc>
            </a:pPr>
            <a:r>
              <a:rPr lang="en-US" sz="2264">
                <a:solidFill>
                  <a:srgbClr val="FFFFFF"/>
                </a:solidFill>
                <a:latin typeface="Montserrat Italics"/>
              </a:rPr>
              <a:t>Navigating the Digital Shift: Examining Upselling Ability in </a:t>
            </a:r>
          </a:p>
          <a:p>
            <a:pPr>
              <a:lnSpc>
                <a:spcPts val="3170"/>
              </a:lnSpc>
            </a:pPr>
            <a:r>
              <a:rPr lang="en-US" sz="2264">
                <a:solidFill>
                  <a:srgbClr val="FFFFFF"/>
                </a:solidFill>
                <a:latin typeface="Montserrat Italics"/>
              </a:rPr>
              <a:t>the restaurant industry amidst online food delivery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907877" y="905702"/>
            <a:ext cx="351423" cy="245996"/>
          </a:xfrm>
          <a:custGeom>
            <a:avLst/>
            <a:gdLst/>
            <a:ahLst/>
            <a:cxnLst/>
            <a:rect l="l" t="t" r="r" b="b"/>
            <a:pathLst>
              <a:path w="351423" h="245996">
                <a:moveTo>
                  <a:pt x="0" y="0"/>
                </a:moveTo>
                <a:lnTo>
                  <a:pt x="351423" y="0"/>
                </a:lnTo>
                <a:lnTo>
                  <a:pt x="351423" y="245996"/>
                </a:lnTo>
                <a:lnTo>
                  <a:pt x="0" y="24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-5400000">
            <a:off x="16462091" y="1014412"/>
            <a:ext cx="377098" cy="0"/>
          </a:xfrm>
          <a:prstGeom prst="line">
            <a:avLst/>
          </a:prstGeom>
          <a:ln w="28575" cap="flat">
            <a:solidFill>
              <a:srgbClr val="AB72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0" y="948953"/>
            <a:ext cx="781050" cy="202745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844327" y="5760729"/>
            <a:ext cx="7443673" cy="4526271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940119" y="4964722"/>
            <a:ext cx="1788523" cy="1788523"/>
          </a:xfrm>
          <a:custGeom>
            <a:avLst/>
            <a:gdLst/>
            <a:ahLst/>
            <a:cxnLst/>
            <a:rect l="l" t="t" r="r" b="b"/>
            <a:pathLst>
              <a:path w="1788523" h="1788523">
                <a:moveTo>
                  <a:pt x="0" y="0"/>
                </a:moveTo>
                <a:lnTo>
                  <a:pt x="1788523" y="0"/>
                </a:lnTo>
                <a:lnTo>
                  <a:pt x="1788523" y="1788524"/>
                </a:lnTo>
                <a:lnTo>
                  <a:pt x="0" y="1788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933085" y="1838493"/>
            <a:ext cx="6974792" cy="7419807"/>
            <a:chOff x="0" y="0"/>
            <a:chExt cx="9299722" cy="9893076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/>
            <a:srcRect l="18685" r="18685"/>
            <a:stretch>
              <a:fillRect/>
            </a:stretch>
          </p:blipFill>
          <p:spPr>
            <a:xfrm>
              <a:off x="0" y="0"/>
              <a:ext cx="9299722" cy="9893076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9088987" y="5044217"/>
            <a:ext cx="1433025" cy="143302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722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392804" y="5348034"/>
            <a:ext cx="825392" cy="825392"/>
          </a:xfrm>
          <a:custGeom>
            <a:avLst/>
            <a:gdLst/>
            <a:ahLst/>
            <a:cxnLst/>
            <a:rect l="l" t="t" r="r" b="b"/>
            <a:pathLst>
              <a:path w="825392" h="825392">
                <a:moveTo>
                  <a:pt x="0" y="0"/>
                </a:moveTo>
                <a:lnTo>
                  <a:pt x="825392" y="0"/>
                </a:lnTo>
                <a:lnTo>
                  <a:pt x="825392" y="825391"/>
                </a:lnTo>
                <a:lnTo>
                  <a:pt x="0" y="825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484769" y="896177"/>
            <a:ext cx="6455350" cy="1827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9"/>
              </a:lnSpc>
            </a:pPr>
            <a:r>
              <a:rPr lang="en-US" sz="5899">
                <a:solidFill>
                  <a:srgbClr val="FFFFFF"/>
                </a:solidFill>
                <a:latin typeface="The Seasons Bold"/>
              </a:rPr>
              <a:t>Presentstion</a:t>
            </a:r>
          </a:p>
          <a:p>
            <a:pPr>
              <a:lnSpc>
                <a:spcPts val="6489"/>
              </a:lnSpc>
            </a:pPr>
            <a:r>
              <a:rPr lang="en-US" sz="5899">
                <a:solidFill>
                  <a:srgbClr val="FFFFFF"/>
                </a:solidFill>
                <a:latin typeface="The Seasons Bold"/>
              </a:rPr>
              <a:t>Agenda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72683" y="2910403"/>
            <a:ext cx="5224262" cy="701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5238" lvl="1" indent="-282619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FDFBFB"/>
                </a:solidFill>
                <a:latin typeface="Montserrat Classic"/>
              </a:rPr>
              <a:t>Industiral Overview</a:t>
            </a:r>
          </a:p>
          <a:p>
            <a:pPr marL="565238" lvl="1" indent="-282619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FDFBFB"/>
                </a:solidFill>
                <a:latin typeface="Montserrat Classic"/>
              </a:rPr>
              <a:t>Literature Review</a:t>
            </a:r>
          </a:p>
          <a:p>
            <a:pPr marL="565238" lvl="1" indent="-282619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FDFBFB"/>
                </a:solidFill>
                <a:latin typeface="Montserrat Classic"/>
              </a:rPr>
              <a:t>Problem Statement</a:t>
            </a:r>
          </a:p>
          <a:p>
            <a:pPr marL="565238" lvl="1" indent="-282619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FDFBFB"/>
                </a:solidFill>
                <a:latin typeface="Montserrat Classic"/>
              </a:rPr>
              <a:t>Dataset Description</a:t>
            </a:r>
          </a:p>
          <a:p>
            <a:pPr marL="565238" lvl="1" indent="-282619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FDFBFB"/>
                </a:solidFill>
                <a:latin typeface="Montserrat Classic"/>
              </a:rPr>
              <a:t>Variable Construction</a:t>
            </a:r>
          </a:p>
          <a:p>
            <a:pPr marL="565238" lvl="1" indent="-282619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FDFBFB"/>
                </a:solidFill>
                <a:latin typeface="Montserrat Classic"/>
              </a:rPr>
              <a:t>Model Fitting</a:t>
            </a:r>
          </a:p>
          <a:p>
            <a:pPr marL="565238" lvl="1" indent="-282619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FDFBFB"/>
                </a:solidFill>
                <a:latin typeface="Montserrat Classic"/>
              </a:rPr>
              <a:t>Results Interpretation</a:t>
            </a:r>
          </a:p>
          <a:p>
            <a:pPr marL="565238" lvl="1" indent="-282619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FDFBFB"/>
                </a:solidFill>
                <a:latin typeface="Montserrat Classic"/>
              </a:rPr>
              <a:t>Moderator Analysis</a:t>
            </a:r>
          </a:p>
          <a:p>
            <a:pPr marL="565238" lvl="1" indent="-282619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FDFBFB"/>
                </a:solidFill>
                <a:latin typeface="Montserrat Classic"/>
              </a:rPr>
              <a:t>Study Findings</a:t>
            </a:r>
          </a:p>
          <a:p>
            <a:pPr marL="565238" lvl="1" indent="-282619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FDFBFB"/>
                </a:solidFill>
                <a:latin typeface="Montserrat Classic"/>
              </a:rPr>
              <a:t>Mgmt Implementation</a:t>
            </a:r>
          </a:p>
          <a:p>
            <a:pPr marL="565238" lvl="1" indent="-282619">
              <a:lnSpc>
                <a:spcPts val="4345"/>
              </a:lnSpc>
              <a:buFont typeface="Arial"/>
              <a:buChar char="•"/>
            </a:pPr>
            <a:r>
              <a:rPr lang="en-US" sz="2618">
                <a:solidFill>
                  <a:srgbClr val="FDFBFB"/>
                </a:solidFill>
                <a:latin typeface="Montserrat Classic"/>
              </a:rPr>
              <a:t>Research Limitations and Future Investigations</a:t>
            </a:r>
          </a:p>
          <a:p>
            <a:pPr>
              <a:lnSpc>
                <a:spcPts val="4345"/>
              </a:lnSpc>
            </a:pPr>
            <a:endParaRPr lang="en-US" sz="2618">
              <a:solidFill>
                <a:srgbClr val="FDFBFB"/>
              </a:solidFill>
              <a:latin typeface="Montserrat Classic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40769" y="2910403"/>
            <a:ext cx="712352" cy="593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5"/>
              </a:lnSpc>
            </a:pPr>
            <a:r>
              <a:rPr lang="en-US" sz="2618">
                <a:solidFill>
                  <a:srgbClr val="FFFFFF"/>
                </a:solidFill>
                <a:latin typeface="Montserrat Classic"/>
              </a:rPr>
              <a:t>03</a:t>
            </a:r>
          </a:p>
          <a:p>
            <a:pPr algn="r">
              <a:lnSpc>
                <a:spcPts val="4345"/>
              </a:lnSpc>
            </a:pPr>
            <a:r>
              <a:rPr lang="en-US" sz="2618">
                <a:solidFill>
                  <a:srgbClr val="FFFFFF"/>
                </a:solidFill>
                <a:latin typeface="Montserrat Classic"/>
              </a:rPr>
              <a:t>04</a:t>
            </a:r>
          </a:p>
          <a:p>
            <a:pPr algn="r">
              <a:lnSpc>
                <a:spcPts val="4345"/>
              </a:lnSpc>
            </a:pPr>
            <a:r>
              <a:rPr lang="en-US" sz="2618">
                <a:solidFill>
                  <a:srgbClr val="FFFFFF"/>
                </a:solidFill>
                <a:latin typeface="Montserrat Classic"/>
              </a:rPr>
              <a:t>06</a:t>
            </a:r>
          </a:p>
          <a:p>
            <a:pPr algn="r">
              <a:lnSpc>
                <a:spcPts val="4345"/>
              </a:lnSpc>
            </a:pPr>
            <a:r>
              <a:rPr lang="en-US" sz="2618">
                <a:solidFill>
                  <a:srgbClr val="FFFFFF"/>
                </a:solidFill>
                <a:latin typeface="Montserrat Classic"/>
              </a:rPr>
              <a:t>07</a:t>
            </a:r>
          </a:p>
          <a:p>
            <a:pPr algn="r">
              <a:lnSpc>
                <a:spcPts val="4345"/>
              </a:lnSpc>
            </a:pPr>
            <a:r>
              <a:rPr lang="en-US" sz="2618">
                <a:solidFill>
                  <a:srgbClr val="FFFFFF"/>
                </a:solidFill>
                <a:latin typeface="Montserrat Classic"/>
              </a:rPr>
              <a:t>08</a:t>
            </a:r>
          </a:p>
          <a:p>
            <a:pPr algn="r">
              <a:lnSpc>
                <a:spcPts val="4345"/>
              </a:lnSpc>
            </a:pPr>
            <a:r>
              <a:rPr lang="en-US" sz="2618">
                <a:solidFill>
                  <a:srgbClr val="FFFFFF"/>
                </a:solidFill>
                <a:latin typeface="Montserrat Classic"/>
              </a:rPr>
              <a:t>08</a:t>
            </a:r>
          </a:p>
          <a:p>
            <a:pPr algn="r">
              <a:lnSpc>
                <a:spcPts val="4345"/>
              </a:lnSpc>
            </a:pPr>
            <a:r>
              <a:rPr lang="en-US" sz="2618">
                <a:solidFill>
                  <a:srgbClr val="FFFFFF"/>
                </a:solidFill>
                <a:latin typeface="Montserrat Classic"/>
              </a:rPr>
              <a:t>10</a:t>
            </a:r>
          </a:p>
          <a:p>
            <a:pPr algn="r">
              <a:lnSpc>
                <a:spcPts val="4345"/>
              </a:lnSpc>
            </a:pPr>
            <a:r>
              <a:rPr lang="en-US" sz="2618">
                <a:solidFill>
                  <a:srgbClr val="FFFFFF"/>
                </a:solidFill>
                <a:latin typeface="Montserrat Classic"/>
              </a:rPr>
              <a:t>11</a:t>
            </a:r>
          </a:p>
          <a:p>
            <a:pPr algn="r">
              <a:lnSpc>
                <a:spcPts val="4345"/>
              </a:lnSpc>
            </a:pPr>
            <a:r>
              <a:rPr lang="en-US" sz="2618">
                <a:solidFill>
                  <a:srgbClr val="FFFFFF"/>
                </a:solidFill>
                <a:latin typeface="Montserrat Classic"/>
              </a:rPr>
              <a:t>13</a:t>
            </a:r>
          </a:p>
          <a:p>
            <a:pPr algn="r">
              <a:lnSpc>
                <a:spcPts val="4345"/>
              </a:lnSpc>
            </a:pPr>
            <a:r>
              <a:rPr lang="en-US" sz="2618">
                <a:solidFill>
                  <a:srgbClr val="FFFFFF"/>
                </a:solidFill>
                <a:latin typeface="Montserrat Classic"/>
              </a:rPr>
              <a:t>13</a:t>
            </a:r>
          </a:p>
          <a:p>
            <a:pPr algn="r">
              <a:lnSpc>
                <a:spcPts val="4345"/>
              </a:lnSpc>
            </a:pPr>
            <a:r>
              <a:rPr lang="en-US" sz="2618">
                <a:solidFill>
                  <a:srgbClr val="FFFFFF"/>
                </a:solidFill>
                <a:latin typeface="Montserrat Classic"/>
              </a:rPr>
              <a:t>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907877" y="905702"/>
            <a:ext cx="351423" cy="245996"/>
          </a:xfrm>
          <a:custGeom>
            <a:avLst/>
            <a:gdLst/>
            <a:ahLst/>
            <a:cxnLst/>
            <a:rect l="l" t="t" r="r" b="b"/>
            <a:pathLst>
              <a:path w="351423" h="245996">
                <a:moveTo>
                  <a:pt x="0" y="0"/>
                </a:moveTo>
                <a:lnTo>
                  <a:pt x="351423" y="0"/>
                </a:lnTo>
                <a:lnTo>
                  <a:pt x="351423" y="245996"/>
                </a:lnTo>
                <a:lnTo>
                  <a:pt x="0" y="24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-5400000">
            <a:off x="16462091" y="1014412"/>
            <a:ext cx="377098" cy="0"/>
          </a:xfrm>
          <a:prstGeom prst="line">
            <a:avLst/>
          </a:prstGeom>
          <a:ln w="28575" cap="flat">
            <a:solidFill>
              <a:srgbClr val="AB72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0" y="948953"/>
            <a:ext cx="781050" cy="202745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85016">
            <a:off x="12115013" y="3103260"/>
            <a:ext cx="3861232" cy="4107693"/>
          </a:xfrm>
          <a:custGeom>
            <a:avLst/>
            <a:gdLst/>
            <a:ahLst/>
            <a:cxnLst/>
            <a:rect l="l" t="t" r="r" b="b"/>
            <a:pathLst>
              <a:path w="3861232" h="4107693">
                <a:moveTo>
                  <a:pt x="0" y="0"/>
                </a:moveTo>
                <a:lnTo>
                  <a:pt x="3861232" y="0"/>
                </a:lnTo>
                <a:lnTo>
                  <a:pt x="3861232" y="4107694"/>
                </a:lnTo>
                <a:lnTo>
                  <a:pt x="0" y="4107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134534" y="3056149"/>
            <a:ext cx="3848626" cy="3848626"/>
          </a:xfrm>
          <a:custGeom>
            <a:avLst/>
            <a:gdLst/>
            <a:ahLst/>
            <a:cxnLst/>
            <a:rect l="l" t="t" r="r" b="b"/>
            <a:pathLst>
              <a:path w="3848626" h="3848626">
                <a:moveTo>
                  <a:pt x="0" y="0"/>
                </a:moveTo>
                <a:lnTo>
                  <a:pt x="3848626" y="0"/>
                </a:lnTo>
                <a:lnTo>
                  <a:pt x="3848626" y="3848626"/>
                </a:lnTo>
                <a:lnTo>
                  <a:pt x="0" y="38486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7482239" y="5404267"/>
            <a:ext cx="3422952" cy="0"/>
          </a:xfrm>
          <a:prstGeom prst="line">
            <a:avLst/>
          </a:prstGeom>
          <a:ln w="180975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304081" y="3264904"/>
            <a:ext cx="573157" cy="860274"/>
          </a:xfrm>
          <a:custGeom>
            <a:avLst/>
            <a:gdLst/>
            <a:ahLst/>
            <a:cxnLst/>
            <a:rect l="l" t="t" r="r" b="b"/>
            <a:pathLst>
              <a:path w="573157" h="860274">
                <a:moveTo>
                  <a:pt x="0" y="0"/>
                </a:moveTo>
                <a:lnTo>
                  <a:pt x="573157" y="0"/>
                </a:lnTo>
                <a:lnTo>
                  <a:pt x="573157" y="860273"/>
                </a:lnTo>
                <a:lnTo>
                  <a:pt x="0" y="860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 flipV="1">
            <a:off x="6791488" y="4380445"/>
            <a:ext cx="3463912" cy="0"/>
          </a:xfrm>
          <a:prstGeom prst="line">
            <a:avLst/>
          </a:prstGeom>
          <a:ln w="180975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687673" y="4796149"/>
            <a:ext cx="740479" cy="608118"/>
          </a:xfrm>
          <a:custGeom>
            <a:avLst/>
            <a:gdLst/>
            <a:ahLst/>
            <a:cxnLst/>
            <a:rect l="l" t="t" r="r" b="b"/>
            <a:pathLst>
              <a:path w="740479" h="608118">
                <a:moveTo>
                  <a:pt x="0" y="0"/>
                </a:moveTo>
                <a:lnTo>
                  <a:pt x="740479" y="0"/>
                </a:lnTo>
                <a:lnTo>
                  <a:pt x="740479" y="608118"/>
                </a:lnTo>
                <a:lnTo>
                  <a:pt x="0" y="608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401296" y="1650741"/>
            <a:ext cx="1348540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FFFFFF"/>
                </a:solidFill>
                <a:latin typeface="The Seasons Bold"/>
              </a:rPr>
              <a:t>The Rise of Online Food Delivery Platforms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9175" y="773384"/>
            <a:ext cx="9624806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FA40B"/>
                </a:solidFill>
                <a:latin typeface="The Seasons"/>
              </a:rPr>
              <a:t>Restuarant Industry Overview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86244" y="5949570"/>
            <a:ext cx="4318947" cy="318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4" lvl="1" indent="-237492">
              <a:lnSpc>
                <a:spcPts val="3212"/>
              </a:lnSpc>
              <a:buFont typeface="Arial"/>
              <a:buChar char="•"/>
            </a:pPr>
            <a:r>
              <a:rPr lang="en-US" sz="2200" spc="52">
                <a:solidFill>
                  <a:srgbClr val="FFFFFF"/>
                </a:solidFill>
                <a:latin typeface="Montserrat"/>
              </a:rPr>
              <a:t>Demand of Convenience</a:t>
            </a:r>
          </a:p>
          <a:p>
            <a:pPr marL="474984" lvl="1" indent="-237492">
              <a:lnSpc>
                <a:spcPts val="3212"/>
              </a:lnSpc>
              <a:buFont typeface="Arial"/>
              <a:buChar char="•"/>
            </a:pPr>
            <a:r>
              <a:rPr lang="en-US" sz="2200" spc="52">
                <a:solidFill>
                  <a:srgbClr val="FFFFFF"/>
                </a:solidFill>
                <a:latin typeface="Montserrat"/>
              </a:rPr>
              <a:t>Technology Advancement</a:t>
            </a:r>
          </a:p>
          <a:p>
            <a:pPr marL="474984" lvl="1" indent="-237492">
              <a:lnSpc>
                <a:spcPts val="3212"/>
              </a:lnSpc>
              <a:buFont typeface="Arial"/>
              <a:buChar char="•"/>
            </a:pPr>
            <a:r>
              <a:rPr lang="en-US" sz="2200" spc="52">
                <a:solidFill>
                  <a:srgbClr val="FFFFFF"/>
                </a:solidFill>
                <a:latin typeface="Montserrat"/>
              </a:rPr>
              <a:t>Market Competition</a:t>
            </a:r>
          </a:p>
          <a:p>
            <a:pPr marL="474984" lvl="1" indent="-237492">
              <a:lnSpc>
                <a:spcPts val="3212"/>
              </a:lnSpc>
              <a:buFont typeface="Arial"/>
              <a:buChar char="•"/>
            </a:pPr>
            <a:r>
              <a:rPr lang="en-US" sz="2200" spc="52">
                <a:solidFill>
                  <a:srgbClr val="FFFFFF"/>
                </a:solidFill>
                <a:latin typeface="Montserrat"/>
              </a:rPr>
              <a:t>COVID-19 as a Catalyst</a:t>
            </a:r>
          </a:p>
          <a:p>
            <a:pPr marL="474984" lvl="1" indent="-237492">
              <a:lnSpc>
                <a:spcPts val="3212"/>
              </a:lnSpc>
              <a:buFont typeface="Arial"/>
              <a:buChar char="•"/>
            </a:pPr>
            <a:r>
              <a:rPr lang="en-US" sz="2200" spc="52">
                <a:solidFill>
                  <a:srgbClr val="FFFFFF"/>
                </a:solidFill>
                <a:latin typeface="Montserrat"/>
              </a:rPr>
              <a:t>Safety of Online ordering </a:t>
            </a:r>
          </a:p>
          <a:p>
            <a:pPr marL="474984" lvl="1" indent="-237492">
              <a:lnSpc>
                <a:spcPts val="3212"/>
              </a:lnSpc>
              <a:buFont typeface="Arial"/>
              <a:buChar char="•"/>
            </a:pPr>
            <a:r>
              <a:rPr lang="en-US" sz="2200" spc="52">
                <a:solidFill>
                  <a:srgbClr val="FFFFFF"/>
                </a:solidFill>
                <a:latin typeface="Montserrat"/>
              </a:rPr>
              <a:t>Variety of Choices</a:t>
            </a:r>
          </a:p>
          <a:p>
            <a:pPr marL="474984" lvl="1" indent="-237492">
              <a:lnSpc>
                <a:spcPts val="3212"/>
              </a:lnSpc>
              <a:buFont typeface="Arial"/>
              <a:buChar char="•"/>
            </a:pPr>
            <a:r>
              <a:rPr lang="en-US" sz="2200" spc="52">
                <a:solidFill>
                  <a:srgbClr val="FFFFFF"/>
                </a:solidFill>
                <a:latin typeface="Montserrat"/>
              </a:rPr>
              <a:t>Reshaped dining habits in the long term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36695" y="7248540"/>
            <a:ext cx="4644305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3199">
                <a:solidFill>
                  <a:srgbClr val="FFA40B"/>
                </a:solidFill>
                <a:latin typeface="The Seasons Bold"/>
              </a:rPr>
              <a:t>Traditional Restaurant</a:t>
            </a:r>
          </a:p>
          <a:p>
            <a:pPr algn="ctr">
              <a:lnSpc>
                <a:spcPts val="3189"/>
              </a:lnSpc>
            </a:pPr>
            <a:r>
              <a:rPr lang="en-US" sz="2899">
                <a:solidFill>
                  <a:srgbClr val="FFFFFF"/>
                </a:solidFill>
                <a:latin typeface="Montserrat"/>
              </a:rPr>
              <a:t>i.e. dine-in, take away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27086" y="7181865"/>
            <a:ext cx="5023554" cy="194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8"/>
              </a:lnSpc>
            </a:pPr>
            <a:r>
              <a:rPr lang="en-US" sz="3244">
                <a:solidFill>
                  <a:srgbClr val="FFA40B"/>
                </a:solidFill>
                <a:latin typeface="The Seasons Bold"/>
              </a:rPr>
              <a:t>OFD Platform</a:t>
            </a:r>
            <a:r>
              <a:rPr lang="en-US" sz="3244">
                <a:solidFill>
                  <a:srgbClr val="FFFFFF"/>
                </a:solidFill>
                <a:latin typeface="The Seasons"/>
              </a:rPr>
              <a:t> </a:t>
            </a:r>
          </a:p>
          <a:p>
            <a:pPr algn="ctr">
              <a:lnSpc>
                <a:spcPts val="3568"/>
              </a:lnSpc>
            </a:pPr>
            <a:r>
              <a:rPr lang="en-US" sz="2744">
                <a:solidFill>
                  <a:srgbClr val="FFFFFF"/>
                </a:solidFill>
                <a:latin typeface="Montserrat"/>
              </a:rPr>
              <a:t>In 2023, surpassed </a:t>
            </a:r>
          </a:p>
          <a:p>
            <a:pPr algn="ctr">
              <a:lnSpc>
                <a:spcPts val="3568"/>
              </a:lnSpc>
            </a:pPr>
            <a:r>
              <a:rPr lang="en-US" sz="2744">
                <a:solidFill>
                  <a:srgbClr val="FFFFFF"/>
                </a:solidFill>
                <a:latin typeface="Montserrat Bold"/>
              </a:rPr>
              <a:t>$1 Trillion </a:t>
            </a:r>
          </a:p>
          <a:p>
            <a:pPr algn="ctr">
              <a:lnSpc>
                <a:spcPts val="3568"/>
              </a:lnSpc>
            </a:pPr>
            <a:r>
              <a:rPr lang="en-US" sz="2744">
                <a:solidFill>
                  <a:srgbClr val="FFFFFF"/>
                </a:solidFill>
                <a:latin typeface="Montserrat"/>
              </a:rPr>
              <a:t>in market size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6471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907877" y="905702"/>
            <a:ext cx="351423" cy="245996"/>
          </a:xfrm>
          <a:custGeom>
            <a:avLst/>
            <a:gdLst/>
            <a:ahLst/>
            <a:cxnLst/>
            <a:rect l="l" t="t" r="r" b="b"/>
            <a:pathLst>
              <a:path w="351423" h="245996">
                <a:moveTo>
                  <a:pt x="0" y="0"/>
                </a:moveTo>
                <a:lnTo>
                  <a:pt x="351423" y="0"/>
                </a:lnTo>
                <a:lnTo>
                  <a:pt x="351423" y="245996"/>
                </a:lnTo>
                <a:lnTo>
                  <a:pt x="0" y="24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-5400000">
            <a:off x="16462091" y="1014412"/>
            <a:ext cx="377098" cy="0"/>
          </a:xfrm>
          <a:prstGeom prst="line">
            <a:avLst/>
          </a:prstGeom>
          <a:ln w="28575" cap="flat">
            <a:solidFill>
              <a:srgbClr val="AB72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0" y="948953"/>
            <a:ext cx="781050" cy="202745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896567" y="1549689"/>
            <a:ext cx="5884158" cy="70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30"/>
              </a:lnSpc>
            </a:pPr>
            <a:r>
              <a:rPr lang="en-US" sz="4300">
                <a:solidFill>
                  <a:srgbClr val="FFFFFF"/>
                </a:solidFill>
                <a:latin typeface="The Seasons Bold"/>
              </a:rPr>
              <a:t>Key findings: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73384"/>
            <a:ext cx="3118351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FA40B"/>
                </a:solidFill>
                <a:latin typeface="The Seasons"/>
              </a:rPr>
              <a:t>Literature Review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96567" y="2815537"/>
            <a:ext cx="6296667" cy="109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93"/>
              </a:lnSpc>
              <a:spcBef>
                <a:spcPct val="0"/>
              </a:spcBef>
            </a:pPr>
            <a:r>
              <a:rPr lang="en-US" sz="1589" spc="155">
                <a:solidFill>
                  <a:srgbClr val="FFFFFF"/>
                </a:solidFill>
                <a:latin typeface="Montserrat Bold"/>
              </a:rPr>
              <a:t>OFD Convenience comes at a Price: </a:t>
            </a:r>
            <a:r>
              <a:rPr lang="en-US" sz="1589" spc="155">
                <a:solidFill>
                  <a:srgbClr val="FFFFFF"/>
                </a:solidFill>
                <a:latin typeface="Montserrat"/>
              </a:rPr>
              <a:t>While it has facilitated restaurants in reaching a wider customer base and fostering market presence, </a:t>
            </a:r>
            <a:r>
              <a:rPr lang="en-US" sz="1589" spc="155">
                <a:solidFill>
                  <a:srgbClr val="FFFFFF"/>
                </a:solidFill>
                <a:latin typeface="Montserrat Bold"/>
              </a:rPr>
              <a:t>commission</a:t>
            </a:r>
            <a:r>
              <a:rPr lang="en-US" sz="1589" spc="155">
                <a:solidFill>
                  <a:srgbClr val="FFFFFF"/>
                </a:solidFill>
                <a:latin typeface="Montserrat"/>
              </a:rPr>
              <a:t> </a:t>
            </a:r>
            <a:r>
              <a:rPr lang="en-US" sz="1589" spc="155">
                <a:solidFill>
                  <a:srgbClr val="FFFFFF"/>
                </a:solidFill>
                <a:latin typeface="Montserrat Bold"/>
              </a:rPr>
              <a:t>fees</a:t>
            </a:r>
            <a:r>
              <a:rPr lang="en-US" sz="1589" spc="155">
                <a:solidFill>
                  <a:srgbClr val="FFFFFF"/>
                </a:solidFill>
                <a:latin typeface="Montserrat"/>
              </a:rPr>
              <a:t> charged that can escalate to</a:t>
            </a:r>
            <a:r>
              <a:rPr lang="en-US" sz="1589" spc="155">
                <a:solidFill>
                  <a:srgbClr val="FFFFFF"/>
                </a:solidFill>
                <a:latin typeface="Montserrat Bold"/>
              </a:rPr>
              <a:t> 30%</a:t>
            </a:r>
            <a:r>
              <a:rPr lang="en-US" sz="1589" spc="155">
                <a:solidFill>
                  <a:srgbClr val="FFFFFF"/>
                </a:solidFill>
                <a:latin typeface="Montserrat"/>
              </a:rPr>
              <a:t> per order.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96567" y="2382755"/>
            <a:ext cx="7934849" cy="375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199"/>
              </a:lnSpc>
              <a:spcBef>
                <a:spcPct val="0"/>
              </a:spcBef>
            </a:pPr>
            <a:r>
              <a:rPr lang="en-US" sz="2318" spc="227">
                <a:solidFill>
                  <a:srgbClr val="397D5A"/>
                </a:solidFill>
                <a:latin typeface="Open Sauce Bold"/>
              </a:rPr>
              <a:t>01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6567" y="4605185"/>
            <a:ext cx="6296667" cy="82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93"/>
              </a:lnSpc>
              <a:spcBef>
                <a:spcPct val="0"/>
              </a:spcBef>
            </a:pPr>
            <a:r>
              <a:rPr lang="en-US" sz="1589" spc="155" dirty="0">
                <a:solidFill>
                  <a:srgbClr val="FFFFFF"/>
                </a:solidFill>
                <a:latin typeface="Montserrat"/>
              </a:rPr>
              <a:t>OFD’s long-term contribution to </a:t>
            </a:r>
            <a:r>
              <a:rPr lang="en-US" sz="1589" spc="155" dirty="0">
                <a:solidFill>
                  <a:srgbClr val="FFFFFF"/>
                </a:solidFill>
                <a:latin typeface="Montserrat Bold"/>
              </a:rPr>
              <a:t>profitability</a:t>
            </a:r>
            <a:r>
              <a:rPr lang="en-US" sz="1589" spc="155" dirty="0">
                <a:solidFill>
                  <a:srgbClr val="FFFFFF"/>
                </a:solidFill>
                <a:latin typeface="Montserrat"/>
              </a:rPr>
              <a:t> is </a:t>
            </a:r>
            <a:r>
              <a:rPr lang="en-US" sz="1589" u="sng" spc="155" dirty="0">
                <a:solidFill>
                  <a:srgbClr val="FFFFFF"/>
                </a:solidFill>
                <a:latin typeface="Montserrat Bold"/>
                <a:hlinkClick r:id="rId4" action="ppaction://hlinksldjump"/>
              </a:rPr>
              <a:t>disputable</a:t>
            </a:r>
            <a:r>
              <a:rPr lang="en-US" sz="1589" spc="155" dirty="0">
                <a:solidFill>
                  <a:srgbClr val="FFFFFF"/>
                </a:solidFill>
                <a:latin typeface="Montserrat"/>
              </a:rPr>
              <a:t>, given the razor-thin market nature and </a:t>
            </a:r>
            <a:r>
              <a:rPr lang="en-US" sz="1589" spc="155" dirty="0" err="1">
                <a:solidFill>
                  <a:srgbClr val="FFFFFF"/>
                </a:solidFill>
                <a:latin typeface="Montserrat"/>
              </a:rPr>
              <a:t>fastly</a:t>
            </a:r>
            <a:r>
              <a:rPr lang="en-US" sz="1589" spc="155" dirty="0">
                <a:solidFill>
                  <a:srgbClr val="FFFFFF"/>
                </a:solidFill>
                <a:latin typeface="Montserrat"/>
              </a:rPr>
              <a:t> growing and </a:t>
            </a:r>
            <a:r>
              <a:rPr lang="en-US" sz="1589" spc="155" dirty="0">
                <a:solidFill>
                  <a:srgbClr val="FFFFFF"/>
                </a:solidFill>
                <a:latin typeface="Montserrat Bold"/>
              </a:rPr>
              <a:t>saturated</a:t>
            </a:r>
            <a:r>
              <a:rPr lang="en-US" sz="1589" spc="155" dirty="0">
                <a:solidFill>
                  <a:srgbClr val="FFFFFF"/>
                </a:solidFill>
                <a:latin typeface="Montserrat"/>
              </a:rPr>
              <a:t> industry.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6567" y="4172461"/>
            <a:ext cx="6178470" cy="375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199"/>
              </a:lnSpc>
              <a:spcBef>
                <a:spcPct val="0"/>
              </a:spcBef>
            </a:pPr>
            <a:r>
              <a:rPr lang="en-US" sz="2318" spc="227">
                <a:solidFill>
                  <a:srgbClr val="397D5A"/>
                </a:solidFill>
                <a:latin typeface="Open Sauce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96567" y="8171846"/>
            <a:ext cx="6296667" cy="137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93"/>
              </a:lnSpc>
              <a:spcBef>
                <a:spcPct val="0"/>
              </a:spcBef>
            </a:pPr>
            <a:r>
              <a:rPr lang="en-US" sz="1589" spc="155">
                <a:solidFill>
                  <a:srgbClr val="FFFFFF"/>
                </a:solidFill>
                <a:latin typeface="Montserrat Bold"/>
              </a:rPr>
              <a:t>UPSELLING</a:t>
            </a:r>
            <a:r>
              <a:rPr lang="en-US" sz="1589" spc="155">
                <a:solidFill>
                  <a:srgbClr val="FFFFFF"/>
                </a:solidFill>
                <a:latin typeface="Montserrat"/>
              </a:rPr>
              <a:t> - refers to a sales technique aimed at encouraging customers to purchase additional items or higher-priced alternatives. The</a:t>
            </a:r>
            <a:r>
              <a:rPr lang="en-US" sz="1589" u="sng" spc="155">
                <a:solidFill>
                  <a:srgbClr val="FFFFFF"/>
                </a:solidFill>
                <a:latin typeface="Montserrat"/>
                <a:hlinkClick r:id="rId5" action="ppaction://hlinksldjump"/>
              </a:rPr>
              <a:t> opinions </a:t>
            </a:r>
            <a:r>
              <a:rPr lang="en-US" sz="1589" spc="155">
                <a:solidFill>
                  <a:srgbClr val="FFFFFF"/>
                </a:solidFill>
                <a:latin typeface="Montserrat"/>
              </a:rPr>
              <a:t>on the impacts of OFD reliance on upselling capability is also </a:t>
            </a:r>
            <a:r>
              <a:rPr lang="en-US" sz="1589" u="sng" spc="155">
                <a:solidFill>
                  <a:srgbClr val="FFFFFF"/>
                </a:solidFill>
                <a:latin typeface="Montserrat"/>
                <a:hlinkClick r:id="rId5" action="ppaction://hlinksldjump"/>
              </a:rPr>
              <a:t>contradictory</a:t>
            </a:r>
            <a:r>
              <a:rPr lang="en-US" sz="1589" spc="155">
                <a:solidFill>
                  <a:srgbClr val="FFFFFF"/>
                </a:solidFill>
                <a:latin typeface="Montserrat"/>
              </a:rPr>
              <a:t>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96567" y="7796214"/>
            <a:ext cx="5889558" cy="375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199"/>
              </a:lnSpc>
              <a:spcBef>
                <a:spcPct val="0"/>
              </a:spcBef>
            </a:pPr>
            <a:r>
              <a:rPr lang="en-US" sz="2318" spc="227">
                <a:solidFill>
                  <a:srgbClr val="397D5A"/>
                </a:solidFill>
                <a:latin typeface="Open Sauce Bold"/>
              </a:rPr>
              <a:t>04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6567" y="5757731"/>
            <a:ext cx="6178470" cy="375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199"/>
              </a:lnSpc>
              <a:spcBef>
                <a:spcPct val="0"/>
              </a:spcBef>
            </a:pPr>
            <a:r>
              <a:rPr lang="en-US" sz="2318" spc="227">
                <a:solidFill>
                  <a:srgbClr val="397D5A"/>
                </a:solidFill>
                <a:latin typeface="Open Sauce 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96567" y="6144333"/>
            <a:ext cx="6296667" cy="137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93"/>
              </a:lnSpc>
              <a:spcBef>
                <a:spcPct val="0"/>
              </a:spcBef>
            </a:pPr>
            <a:r>
              <a:rPr lang="en-US" sz="1589" spc="155">
                <a:solidFill>
                  <a:srgbClr val="FFFFFF"/>
                </a:solidFill>
                <a:latin typeface="Montserrat"/>
              </a:rPr>
              <a:t>Need for strategic adaptation in customer engagement and sales tactics. Amidst these changes, upsell is considered as one of the most efficient strategy has remained a cornerstone for restaurant profitability. 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867293" y="4201036"/>
            <a:ext cx="7406492" cy="2680137"/>
          </a:xfrm>
          <a:prstGeom prst="rect">
            <a:avLst/>
          </a:prstGeom>
          <a:solidFill>
            <a:srgbClr val="EF9F2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1691435" y="4356646"/>
            <a:ext cx="7338417" cy="53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15"/>
              </a:lnSpc>
            </a:pPr>
            <a:r>
              <a:rPr lang="en-US" sz="3399">
                <a:solidFill>
                  <a:srgbClr val="FDFBFB"/>
                </a:solidFill>
                <a:latin typeface="Montserrat Bold"/>
              </a:rPr>
              <a:t>Problem Statement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91435" y="5082208"/>
            <a:ext cx="6251820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Montserrat Classic"/>
              </a:rPr>
              <a:t>Investigating the Impacts of OFD platforms’ dependence on Restuarant’s Upselling Capabiity</a:t>
            </a:r>
          </a:p>
        </p:txBody>
      </p:sp>
      <p:sp>
        <p:nvSpPr>
          <p:cNvPr id="19" name="AutoShape 19"/>
          <p:cNvSpPr/>
          <p:nvPr/>
        </p:nvSpPr>
        <p:spPr>
          <a:xfrm flipH="1" flipV="1">
            <a:off x="9067800" y="1151722"/>
            <a:ext cx="14288" cy="8639515"/>
          </a:xfrm>
          <a:prstGeom prst="line">
            <a:avLst/>
          </a:prstGeom>
          <a:ln w="28575" cap="flat">
            <a:solidFill>
              <a:srgbClr val="AB72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867293" y="3210372"/>
            <a:ext cx="5884158" cy="70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30"/>
              </a:lnSpc>
            </a:pPr>
            <a:r>
              <a:rPr lang="en-US" sz="4300">
                <a:solidFill>
                  <a:srgbClr val="FFFFFF"/>
                </a:solidFill>
                <a:latin typeface="The Seasons Bold"/>
              </a:rPr>
              <a:t>Fill the gaps ...</a:t>
            </a:r>
          </a:p>
        </p:txBody>
      </p:sp>
      <p:sp>
        <p:nvSpPr>
          <p:cNvPr id="21" name="Freeform 21"/>
          <p:cNvSpPr/>
          <p:nvPr/>
        </p:nvSpPr>
        <p:spPr>
          <a:xfrm>
            <a:off x="8321798" y="4799864"/>
            <a:ext cx="1539630" cy="1539630"/>
          </a:xfrm>
          <a:custGeom>
            <a:avLst/>
            <a:gdLst/>
            <a:ahLst/>
            <a:cxnLst/>
            <a:rect l="l" t="t" r="r" b="b"/>
            <a:pathLst>
              <a:path w="1539630" h="1539630">
                <a:moveTo>
                  <a:pt x="0" y="0"/>
                </a:moveTo>
                <a:lnTo>
                  <a:pt x="1539629" y="0"/>
                </a:lnTo>
                <a:lnTo>
                  <a:pt x="1539629" y="1539630"/>
                </a:lnTo>
                <a:lnTo>
                  <a:pt x="0" y="1539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8449949" y="4868297"/>
            <a:ext cx="1233603" cy="1233603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722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8711486" y="5129833"/>
            <a:ext cx="710529" cy="710529"/>
          </a:xfrm>
          <a:custGeom>
            <a:avLst/>
            <a:gdLst/>
            <a:ahLst/>
            <a:cxnLst/>
            <a:rect l="l" t="t" r="r" b="b"/>
            <a:pathLst>
              <a:path w="710529" h="710529">
                <a:moveTo>
                  <a:pt x="0" y="0"/>
                </a:moveTo>
                <a:lnTo>
                  <a:pt x="710529" y="0"/>
                </a:lnTo>
                <a:lnTo>
                  <a:pt x="710529" y="710530"/>
                </a:lnTo>
                <a:lnTo>
                  <a:pt x="0" y="710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5970"/>
            <a:ext cx="18288000" cy="10251030"/>
            <a:chOff x="0" y="0"/>
            <a:chExt cx="4816593" cy="2699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699860"/>
            </a:xfrm>
            <a:custGeom>
              <a:avLst/>
              <a:gdLst/>
              <a:ahLst/>
              <a:cxnLst/>
              <a:rect l="l" t="t" r="r" b="b"/>
              <a:pathLst>
                <a:path w="4816592" h="2699860">
                  <a:moveTo>
                    <a:pt x="0" y="0"/>
                  </a:moveTo>
                  <a:lnTo>
                    <a:pt x="4816592" y="0"/>
                  </a:lnTo>
                  <a:lnTo>
                    <a:pt x="4816592" y="2699860"/>
                  </a:lnTo>
                  <a:lnTo>
                    <a:pt x="0" y="2699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0" cap="sq">
              <a:solidFill>
                <a:srgbClr val="34343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37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40437" y="990600"/>
            <a:ext cx="9694652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spc="-52">
                <a:solidFill>
                  <a:srgbClr val="283035"/>
                </a:solidFill>
                <a:latin typeface="Open Sauce Bold"/>
              </a:rPr>
              <a:t>Revenue %Change of the Global OFD Market, 2018-2028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61576" y="2405971"/>
            <a:ext cx="6632385" cy="84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1"/>
              </a:lnSpc>
              <a:spcBef>
                <a:spcPct val="0"/>
              </a:spcBef>
            </a:pPr>
            <a:r>
              <a:rPr lang="en-US" sz="2436" u="sng" spc="-48">
                <a:solidFill>
                  <a:srgbClr val="106861"/>
                </a:solidFill>
                <a:latin typeface="Open Sauce Bold"/>
                <a:hlinkClick r:id="rId2" action="ppaction://hlinksldjump"/>
              </a:rPr>
              <a:t>The long-term contribution of OFD platforms to profitability remains debatable: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91803" y="3887369"/>
            <a:ext cx="6643581" cy="395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940" lvl="1" indent="-257970">
              <a:lnSpc>
                <a:spcPts val="3584"/>
              </a:lnSpc>
              <a:buFont typeface="Arial"/>
              <a:buChar char="•"/>
            </a:pPr>
            <a:r>
              <a:rPr lang="en-US" sz="2389">
                <a:solidFill>
                  <a:srgbClr val="343432"/>
                </a:solidFill>
                <a:latin typeface="Open Sauce Bold"/>
              </a:rPr>
              <a:t>Pre-COVID: </a:t>
            </a:r>
            <a:r>
              <a:rPr lang="en-US" sz="2389">
                <a:solidFill>
                  <a:srgbClr val="343432"/>
                </a:solidFill>
                <a:latin typeface="Open Sauce"/>
              </a:rPr>
              <a:t>21% in 2018;</a:t>
            </a:r>
          </a:p>
          <a:p>
            <a:pPr>
              <a:lnSpc>
                <a:spcPts val="3584"/>
              </a:lnSpc>
            </a:pPr>
            <a:endParaRPr lang="en-US" sz="2389">
              <a:solidFill>
                <a:srgbClr val="343432"/>
              </a:solidFill>
              <a:latin typeface="Open Sauce"/>
            </a:endParaRPr>
          </a:p>
          <a:p>
            <a:pPr marL="515940" lvl="1" indent="-257970">
              <a:lnSpc>
                <a:spcPts val="3584"/>
              </a:lnSpc>
              <a:buFont typeface="Arial"/>
              <a:buChar char="•"/>
            </a:pPr>
            <a:r>
              <a:rPr lang="en-US" sz="2389">
                <a:solidFill>
                  <a:srgbClr val="343432"/>
                </a:solidFill>
                <a:latin typeface="Open Sauce Bold"/>
              </a:rPr>
              <a:t>COVID-19 Outbreak</a:t>
            </a:r>
            <a:r>
              <a:rPr lang="en-US" sz="2389">
                <a:solidFill>
                  <a:srgbClr val="343432"/>
                </a:solidFill>
                <a:latin typeface="Open Sauce"/>
              </a:rPr>
              <a:t>: Peak at 2020, hitting 56% growth rate;</a:t>
            </a:r>
          </a:p>
          <a:p>
            <a:pPr>
              <a:lnSpc>
                <a:spcPts val="3584"/>
              </a:lnSpc>
            </a:pPr>
            <a:endParaRPr lang="en-US" sz="2389">
              <a:solidFill>
                <a:srgbClr val="343432"/>
              </a:solidFill>
              <a:latin typeface="Open Sauce"/>
            </a:endParaRPr>
          </a:p>
          <a:p>
            <a:pPr marL="515940" lvl="1" indent="-257970">
              <a:lnSpc>
                <a:spcPts val="3584"/>
              </a:lnSpc>
              <a:buFont typeface="Arial"/>
              <a:buChar char="•"/>
            </a:pPr>
            <a:r>
              <a:rPr lang="en-US" sz="2389">
                <a:solidFill>
                  <a:srgbClr val="343432"/>
                </a:solidFill>
                <a:latin typeface="Open Sauce Bold"/>
              </a:rPr>
              <a:t>Post-Covid: </a:t>
            </a:r>
            <a:r>
              <a:rPr lang="en-US" sz="2389">
                <a:solidFill>
                  <a:srgbClr val="343432"/>
                </a:solidFill>
                <a:latin typeface="Open Sauce"/>
              </a:rPr>
              <a:t>continued positive trend but at a much slower pace, (slower than pre-covid era), hitting as low as 7% in 2028</a:t>
            </a:r>
          </a:p>
          <a:p>
            <a:pPr marL="0" lvl="0" indent="0">
              <a:lnSpc>
                <a:spcPts val="3124"/>
              </a:lnSpc>
            </a:pPr>
            <a:endParaRPr lang="en-US" sz="2389">
              <a:solidFill>
                <a:srgbClr val="343432"/>
              </a:solidFill>
              <a:latin typeface="Open Sauce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74" y="937609"/>
            <a:ext cx="8944360" cy="8865446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700" y="9248775"/>
            <a:ext cx="8649673" cy="55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214"/>
              </a:lnSpc>
            </a:pPr>
            <a:r>
              <a:rPr lang="en-US" sz="1800">
                <a:solidFill>
                  <a:srgbClr val="343432"/>
                </a:solidFill>
                <a:latin typeface="Open Sauce"/>
              </a:rPr>
              <a:t>Statistic Source: https://ecommercedb.com/insights/leading-companies-in-the-online-food-delivery-market-by-region/4464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907877" y="905702"/>
            <a:ext cx="351423" cy="245996"/>
          </a:xfrm>
          <a:custGeom>
            <a:avLst/>
            <a:gdLst/>
            <a:ahLst/>
            <a:cxnLst/>
            <a:rect l="l" t="t" r="r" b="b"/>
            <a:pathLst>
              <a:path w="351423" h="245996">
                <a:moveTo>
                  <a:pt x="0" y="0"/>
                </a:moveTo>
                <a:lnTo>
                  <a:pt x="351423" y="0"/>
                </a:lnTo>
                <a:lnTo>
                  <a:pt x="351423" y="245996"/>
                </a:lnTo>
                <a:lnTo>
                  <a:pt x="0" y="24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-5400000">
            <a:off x="16462091" y="1014412"/>
            <a:ext cx="377098" cy="0"/>
          </a:xfrm>
          <a:prstGeom prst="line">
            <a:avLst/>
          </a:prstGeom>
          <a:ln w="28575" cap="flat">
            <a:solidFill>
              <a:srgbClr val="AB72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2928804" y="5939880"/>
            <a:ext cx="7443673" cy="4526271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873495" y="2296792"/>
            <a:ext cx="5777145" cy="6551835"/>
            <a:chOff x="0" y="0"/>
            <a:chExt cx="7702860" cy="873578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/>
            <a:srcRect l="5746" r="5746"/>
            <a:stretch>
              <a:fillRect/>
            </a:stretch>
          </p:blipFill>
          <p:spPr>
            <a:xfrm>
              <a:off x="0" y="0"/>
              <a:ext cx="7702860" cy="8735780"/>
            </a:xfrm>
            <a:prstGeom prst="rect">
              <a:avLst/>
            </a:prstGeom>
          </p:spPr>
        </p:pic>
      </p:grpSp>
      <p:sp>
        <p:nvSpPr>
          <p:cNvPr id="8" name="AutoShape 8"/>
          <p:cNvSpPr/>
          <p:nvPr/>
        </p:nvSpPr>
        <p:spPr>
          <a:xfrm>
            <a:off x="0" y="948953"/>
            <a:ext cx="781050" cy="202745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709984" y="5365204"/>
            <a:ext cx="1049008" cy="837895"/>
          </a:xfrm>
          <a:custGeom>
            <a:avLst/>
            <a:gdLst/>
            <a:ahLst/>
            <a:cxnLst/>
            <a:rect l="l" t="t" r="r" b="b"/>
            <a:pathLst>
              <a:path w="1049008" h="837895">
                <a:moveTo>
                  <a:pt x="0" y="0"/>
                </a:moveTo>
                <a:lnTo>
                  <a:pt x="1049008" y="0"/>
                </a:lnTo>
                <a:lnTo>
                  <a:pt x="1049008" y="837895"/>
                </a:lnTo>
                <a:lnTo>
                  <a:pt x="0" y="837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69594" y="1940874"/>
            <a:ext cx="5721471" cy="70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30"/>
              </a:lnSpc>
            </a:pPr>
            <a:r>
              <a:rPr lang="en-US" sz="4300">
                <a:solidFill>
                  <a:srgbClr val="FFFFFF"/>
                </a:solidFill>
                <a:latin typeface="The Seasons Bold"/>
              </a:rPr>
              <a:t>Contrary Perspectives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69594" y="2957509"/>
            <a:ext cx="8599179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Montserrat"/>
              </a:rPr>
              <a:t>Digital environments may lower price sensitivity, and online tools excel in automatically presenting personalised recommendations and add-ons. </a:t>
            </a:r>
          </a:p>
          <a:p>
            <a:pPr>
              <a:lnSpc>
                <a:spcPts val="3360"/>
              </a:lnSpc>
            </a:pPr>
            <a:r>
              <a:rPr lang="en-US" sz="2400">
                <a:solidFill>
                  <a:srgbClr val="FFA40B"/>
                </a:solidFill>
                <a:latin typeface="Montserrat Bold"/>
              </a:rPr>
              <a:t>[H0]</a:t>
            </a:r>
            <a:r>
              <a:rPr lang="en-US" sz="2400">
                <a:solidFill>
                  <a:srgbClr val="FFA40B"/>
                </a:solidFill>
                <a:latin typeface="Montserrat"/>
              </a:rPr>
              <a:t> Increased dependence on third-party OFD platforms contributes to an </a:t>
            </a:r>
            <a:r>
              <a:rPr lang="en-US" sz="2400">
                <a:solidFill>
                  <a:srgbClr val="FFA40B"/>
                </a:solidFill>
                <a:latin typeface="Montserrat Bold"/>
              </a:rPr>
              <a:t>enhanced</a:t>
            </a:r>
            <a:r>
              <a:rPr lang="en-US" sz="2400">
                <a:solidFill>
                  <a:srgbClr val="FFA40B"/>
                </a:solidFill>
                <a:latin typeface="Montserrat"/>
              </a:rPr>
              <a:t> upselling ability.</a:t>
            </a:r>
            <a:r>
              <a:rPr lang="en-US" sz="2400">
                <a:solidFill>
                  <a:srgbClr val="FFA40B"/>
                </a:solidFill>
                <a:latin typeface="Montserrat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73384"/>
            <a:ext cx="4378097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EF9F22"/>
                </a:solidFill>
                <a:latin typeface="The Seasons"/>
              </a:rPr>
              <a:t>Hypothesis Developement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69594" y="6517424"/>
            <a:ext cx="8178796" cy="2382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Montserrat"/>
              </a:rPr>
              <a:t>Consumers’ scepticism about food quality during delivery and the absence of inter-personal interaction may deter customers from indulging in add-ons or premium items. </a:t>
            </a:r>
          </a:p>
          <a:p>
            <a:pPr>
              <a:lnSpc>
                <a:spcPts val="3360"/>
              </a:lnSpc>
            </a:pPr>
            <a:r>
              <a:rPr lang="en-US" sz="2400">
                <a:solidFill>
                  <a:srgbClr val="FFA40B"/>
                </a:solidFill>
                <a:latin typeface="Montserrat Bold"/>
              </a:rPr>
              <a:t>[H1]</a:t>
            </a:r>
            <a:r>
              <a:rPr lang="en-US" sz="2400">
                <a:solidFill>
                  <a:srgbClr val="FFA40B"/>
                </a:solidFill>
                <a:latin typeface="Montserrat"/>
              </a:rPr>
              <a:t> Increased dependence on third-party OFD platforms </a:t>
            </a:r>
            <a:r>
              <a:rPr lang="en-US" sz="2400">
                <a:solidFill>
                  <a:srgbClr val="FFA40B"/>
                </a:solidFill>
                <a:latin typeface="Montserrat Bold"/>
              </a:rPr>
              <a:t>deteriorates </a:t>
            </a:r>
            <a:r>
              <a:rPr lang="en-US" sz="2400">
                <a:solidFill>
                  <a:srgbClr val="FFA40B"/>
                </a:solidFill>
                <a:latin typeface="Montserrat"/>
              </a:rPr>
              <a:t>restaurants’ upselling ability.</a:t>
            </a:r>
            <a:r>
              <a:rPr lang="en-US" sz="2400">
                <a:solidFill>
                  <a:srgbClr val="FFA40B"/>
                </a:solidFill>
                <a:latin typeface="Montserrat Bold"/>
              </a:rPr>
              <a:t> </a:t>
            </a:r>
          </a:p>
          <a:p>
            <a:pPr>
              <a:lnSpc>
                <a:spcPts val="3080"/>
              </a:lnSpc>
            </a:pPr>
            <a:endParaRPr lang="en-US" sz="2400">
              <a:solidFill>
                <a:srgbClr val="FFA40B"/>
              </a:solidFill>
              <a:latin typeface="Montserrat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907877" y="905702"/>
            <a:ext cx="351423" cy="245996"/>
          </a:xfrm>
          <a:custGeom>
            <a:avLst/>
            <a:gdLst/>
            <a:ahLst/>
            <a:cxnLst/>
            <a:rect l="l" t="t" r="r" b="b"/>
            <a:pathLst>
              <a:path w="351423" h="245996">
                <a:moveTo>
                  <a:pt x="0" y="0"/>
                </a:moveTo>
                <a:lnTo>
                  <a:pt x="351423" y="0"/>
                </a:lnTo>
                <a:lnTo>
                  <a:pt x="351423" y="245996"/>
                </a:lnTo>
                <a:lnTo>
                  <a:pt x="0" y="24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-5400000">
            <a:off x="16462091" y="1014412"/>
            <a:ext cx="377098" cy="0"/>
          </a:xfrm>
          <a:prstGeom prst="line">
            <a:avLst/>
          </a:prstGeom>
          <a:ln w="28575" cap="flat">
            <a:solidFill>
              <a:srgbClr val="AB72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0" y="948953"/>
            <a:ext cx="781050" cy="202745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0" y="4196583"/>
            <a:ext cx="18288000" cy="1073510"/>
          </a:xfrm>
          <a:prstGeom prst="rect">
            <a:avLst/>
          </a:prstGeom>
          <a:solidFill>
            <a:srgbClr val="EF9F22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361637" y="5704371"/>
            <a:ext cx="40378" cy="3931598"/>
            <a:chOff x="0" y="0"/>
            <a:chExt cx="12543" cy="122133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43" cy="1221339"/>
            </a:xfrm>
            <a:custGeom>
              <a:avLst/>
              <a:gdLst/>
              <a:ahLst/>
              <a:cxnLst/>
              <a:rect l="l" t="t" r="r" b="b"/>
              <a:pathLst>
                <a:path w="12543" h="1221339">
                  <a:moveTo>
                    <a:pt x="0" y="0"/>
                  </a:moveTo>
                  <a:lnTo>
                    <a:pt x="12543" y="0"/>
                  </a:lnTo>
                  <a:lnTo>
                    <a:pt x="12543" y="1221339"/>
                  </a:lnTo>
                  <a:lnTo>
                    <a:pt x="0" y="1221339"/>
                  </a:lnTo>
                  <a:close/>
                </a:path>
              </a:pathLst>
            </a:custGeom>
            <a:solidFill>
              <a:srgbClr val="AB722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2543" cy="1240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82235" y="5704371"/>
            <a:ext cx="40378" cy="3931598"/>
            <a:chOff x="0" y="0"/>
            <a:chExt cx="12543" cy="12213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43" cy="1221339"/>
            </a:xfrm>
            <a:custGeom>
              <a:avLst/>
              <a:gdLst/>
              <a:ahLst/>
              <a:cxnLst/>
              <a:rect l="l" t="t" r="r" b="b"/>
              <a:pathLst>
                <a:path w="12543" h="1221339">
                  <a:moveTo>
                    <a:pt x="0" y="0"/>
                  </a:moveTo>
                  <a:lnTo>
                    <a:pt x="12543" y="0"/>
                  </a:lnTo>
                  <a:lnTo>
                    <a:pt x="12543" y="1221339"/>
                  </a:lnTo>
                  <a:lnTo>
                    <a:pt x="0" y="1221339"/>
                  </a:lnTo>
                  <a:close/>
                </a:path>
              </a:pathLst>
            </a:custGeom>
            <a:solidFill>
              <a:srgbClr val="AB722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2543" cy="1240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377328" y="5805659"/>
            <a:ext cx="1433663" cy="1021485"/>
          </a:xfrm>
          <a:custGeom>
            <a:avLst/>
            <a:gdLst/>
            <a:ahLst/>
            <a:cxnLst/>
            <a:rect l="l" t="t" r="r" b="b"/>
            <a:pathLst>
              <a:path w="1433663" h="1021485">
                <a:moveTo>
                  <a:pt x="0" y="0"/>
                </a:moveTo>
                <a:lnTo>
                  <a:pt x="1433663" y="0"/>
                </a:lnTo>
                <a:lnTo>
                  <a:pt x="1433663" y="1021485"/>
                </a:lnTo>
                <a:lnTo>
                  <a:pt x="0" y="1021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621529" y="5760903"/>
            <a:ext cx="1267968" cy="1149096"/>
          </a:xfrm>
          <a:custGeom>
            <a:avLst/>
            <a:gdLst/>
            <a:ahLst/>
            <a:cxnLst/>
            <a:rect l="l" t="t" r="r" b="b"/>
            <a:pathLst>
              <a:path w="1267968" h="1149096">
                <a:moveTo>
                  <a:pt x="0" y="0"/>
                </a:moveTo>
                <a:lnTo>
                  <a:pt x="1267968" y="0"/>
                </a:lnTo>
                <a:lnTo>
                  <a:pt x="1267968" y="1149096"/>
                </a:lnTo>
                <a:lnTo>
                  <a:pt x="0" y="1149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203598" y="5656743"/>
            <a:ext cx="1322370" cy="1300881"/>
          </a:xfrm>
          <a:custGeom>
            <a:avLst/>
            <a:gdLst/>
            <a:ahLst/>
            <a:cxnLst/>
            <a:rect l="l" t="t" r="r" b="b"/>
            <a:pathLst>
              <a:path w="1322370" h="1300881">
                <a:moveTo>
                  <a:pt x="0" y="0"/>
                </a:moveTo>
                <a:lnTo>
                  <a:pt x="1322370" y="0"/>
                </a:lnTo>
                <a:lnTo>
                  <a:pt x="1322370" y="1300881"/>
                </a:lnTo>
                <a:lnTo>
                  <a:pt x="0" y="13008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28700" y="773384"/>
            <a:ext cx="5002941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FA40B"/>
                </a:solidFill>
                <a:latin typeface="The Seasons"/>
              </a:rPr>
              <a:t>Dataset Description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8268" y="1604443"/>
            <a:ext cx="14302723" cy="202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 Bold"/>
              </a:rPr>
              <a:t>Number of Transactions:</a:t>
            </a:r>
            <a:r>
              <a:rPr lang="en-US" sz="2427" spc="89">
                <a:solidFill>
                  <a:srgbClr val="FFFFFF"/>
                </a:solidFill>
                <a:latin typeface="Montserrat"/>
              </a:rPr>
              <a:t> 5o millions</a:t>
            </a:r>
          </a:p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 Bold"/>
              </a:rPr>
              <a:t>Timeframe: </a:t>
            </a:r>
            <a:r>
              <a:rPr lang="en-US" sz="2427" spc="89">
                <a:solidFill>
                  <a:srgbClr val="FFFFFF"/>
                </a:solidFill>
                <a:latin typeface="Montserrat"/>
              </a:rPr>
              <a:t>Jan 2018 - Dec 2018</a:t>
            </a:r>
          </a:p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 Bold"/>
              </a:rPr>
              <a:t>Sourced from: </a:t>
            </a:r>
            <a:r>
              <a:rPr lang="en-US" sz="2427" spc="89">
                <a:solidFill>
                  <a:srgbClr val="FFFFFF"/>
                </a:solidFill>
                <a:latin typeface="Montserrat"/>
              </a:rPr>
              <a:t>99 Quick-Service Restaurants (QSRs) across the nation</a:t>
            </a:r>
          </a:p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 Bold"/>
              </a:rPr>
              <a:t>Number of Rows: </a:t>
            </a:r>
            <a:r>
              <a:rPr lang="en-US" sz="2427" spc="89">
                <a:solidFill>
                  <a:srgbClr val="FFFFFF"/>
                </a:solidFill>
                <a:latin typeface="Montserrat"/>
              </a:rPr>
              <a:t>32,695 data points on a restaurant-day basis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23622" y="4080165"/>
            <a:ext cx="11440755" cy="1157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75"/>
              </a:lnSpc>
              <a:spcBef>
                <a:spcPct val="0"/>
              </a:spcBef>
            </a:pPr>
            <a:r>
              <a:rPr lang="en-US" sz="6866" spc="672">
                <a:solidFill>
                  <a:srgbClr val="FFFFFF"/>
                </a:solidFill>
                <a:latin typeface="Montserrat"/>
              </a:rPr>
              <a:t>Column Variables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83536" y="7414824"/>
            <a:ext cx="3966254" cy="150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"/>
              </a:rPr>
              <a:t>Sale number of SKU</a:t>
            </a:r>
          </a:p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"/>
              </a:rPr>
              <a:t>Sale price of SKU</a:t>
            </a:r>
          </a:p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"/>
              </a:rPr>
              <a:t>Sale time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12738" y="7157649"/>
            <a:ext cx="4485551" cy="202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"/>
              </a:rPr>
              <a:t>Applicable promotions</a:t>
            </a:r>
          </a:p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"/>
              </a:rPr>
              <a:t>Bundle deals</a:t>
            </a:r>
          </a:p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"/>
              </a:rPr>
              <a:t>Upselling involved?</a:t>
            </a:r>
          </a:p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"/>
              </a:rPr>
              <a:t>Promotion duration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93046" y="7217669"/>
            <a:ext cx="3966254" cy="202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"/>
              </a:rPr>
              <a:t>Dine-in (51%)</a:t>
            </a:r>
          </a:p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"/>
              </a:rPr>
              <a:t>Take-away (28%)</a:t>
            </a:r>
          </a:p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"/>
              </a:rPr>
              <a:t>Drive-through (6%)</a:t>
            </a:r>
          </a:p>
          <a:p>
            <a:pPr marL="524085" lvl="1" indent="-262042">
              <a:lnSpc>
                <a:spcPts val="4102"/>
              </a:lnSpc>
              <a:buFont typeface="Arial"/>
              <a:buChar char="•"/>
            </a:pPr>
            <a:r>
              <a:rPr lang="en-US" sz="2427" spc="89">
                <a:solidFill>
                  <a:srgbClr val="FFFFFF"/>
                </a:solidFill>
                <a:latin typeface="Montserrat"/>
              </a:rPr>
              <a:t>OFD platforms (4%)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51030"/>
            <a:chOff x="0" y="0"/>
            <a:chExt cx="4816593" cy="2699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699860"/>
            </a:xfrm>
            <a:custGeom>
              <a:avLst/>
              <a:gdLst/>
              <a:ahLst/>
              <a:cxnLst/>
              <a:rect l="l" t="t" r="r" b="b"/>
              <a:pathLst>
                <a:path w="4816592" h="2699860">
                  <a:moveTo>
                    <a:pt x="0" y="0"/>
                  </a:moveTo>
                  <a:lnTo>
                    <a:pt x="4816592" y="0"/>
                  </a:lnTo>
                  <a:lnTo>
                    <a:pt x="4816592" y="2699860"/>
                  </a:lnTo>
                  <a:lnTo>
                    <a:pt x="0" y="2699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0" cap="sq">
              <a:solidFill>
                <a:srgbClr val="34343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37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71567" y="5415042"/>
            <a:ext cx="5465087" cy="3784866"/>
          </a:xfrm>
          <a:custGeom>
            <a:avLst/>
            <a:gdLst/>
            <a:ahLst/>
            <a:cxnLst/>
            <a:rect l="l" t="t" r="r" b="b"/>
            <a:pathLst>
              <a:path w="5465087" h="3784866">
                <a:moveTo>
                  <a:pt x="0" y="0"/>
                </a:moveTo>
                <a:lnTo>
                  <a:pt x="5465087" y="0"/>
                </a:lnTo>
                <a:lnTo>
                  <a:pt x="5465087" y="3784865"/>
                </a:lnTo>
                <a:lnTo>
                  <a:pt x="0" y="3784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474" b="-4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845045" y="2805564"/>
            <a:ext cx="5694916" cy="1049820"/>
          </a:xfrm>
          <a:custGeom>
            <a:avLst/>
            <a:gdLst/>
            <a:ahLst/>
            <a:cxnLst/>
            <a:rect l="l" t="t" r="r" b="b"/>
            <a:pathLst>
              <a:path w="5694916" h="1049820">
                <a:moveTo>
                  <a:pt x="0" y="0"/>
                </a:moveTo>
                <a:lnTo>
                  <a:pt x="5694915" y="0"/>
                </a:lnTo>
                <a:lnTo>
                  <a:pt x="5694915" y="1049820"/>
                </a:lnTo>
                <a:lnTo>
                  <a:pt x="0" y="1049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hlinkClick r:id="rId4" action="ppaction://hlinksldjump"/>
          </p:cNvPr>
          <p:cNvSpPr/>
          <p:nvPr/>
        </p:nvSpPr>
        <p:spPr>
          <a:xfrm>
            <a:off x="1845045" y="3744780"/>
            <a:ext cx="4972201" cy="939022"/>
          </a:xfrm>
          <a:custGeom>
            <a:avLst/>
            <a:gdLst/>
            <a:ahLst/>
            <a:cxnLst/>
            <a:rect l="l" t="t" r="r" b="b"/>
            <a:pathLst>
              <a:path w="4972201" h="939022">
                <a:moveTo>
                  <a:pt x="0" y="0"/>
                </a:moveTo>
                <a:lnTo>
                  <a:pt x="4972200" y="0"/>
                </a:lnTo>
                <a:lnTo>
                  <a:pt x="4972200" y="939022"/>
                </a:lnTo>
                <a:lnTo>
                  <a:pt x="0" y="9390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601691" y="7422056"/>
            <a:ext cx="8453596" cy="742069"/>
          </a:xfrm>
          <a:custGeom>
            <a:avLst/>
            <a:gdLst/>
            <a:ahLst/>
            <a:cxnLst/>
            <a:rect l="l" t="t" r="r" b="b"/>
            <a:pathLst>
              <a:path w="8453596" h="742069">
                <a:moveTo>
                  <a:pt x="0" y="0"/>
                </a:moveTo>
                <a:lnTo>
                  <a:pt x="8453596" y="0"/>
                </a:lnTo>
                <a:lnTo>
                  <a:pt x="8453596" y="742069"/>
                </a:lnTo>
                <a:lnTo>
                  <a:pt x="0" y="742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5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hlinkClick r:id="rId7" action="ppaction://hlinksldjump"/>
          </p:cNvPr>
          <p:cNvSpPr/>
          <p:nvPr/>
        </p:nvSpPr>
        <p:spPr>
          <a:xfrm>
            <a:off x="8344378" y="3371923"/>
            <a:ext cx="3475767" cy="3132535"/>
          </a:xfrm>
          <a:custGeom>
            <a:avLst/>
            <a:gdLst/>
            <a:ahLst/>
            <a:cxnLst/>
            <a:rect l="l" t="t" r="r" b="b"/>
            <a:pathLst>
              <a:path w="3475767" h="3132535">
                <a:moveTo>
                  <a:pt x="0" y="0"/>
                </a:moveTo>
                <a:lnTo>
                  <a:pt x="3475767" y="0"/>
                </a:lnTo>
                <a:lnTo>
                  <a:pt x="3475767" y="3132535"/>
                </a:lnTo>
                <a:lnTo>
                  <a:pt x="0" y="3132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662908" y="3517799"/>
            <a:ext cx="4463885" cy="1107452"/>
          </a:xfrm>
          <a:custGeom>
            <a:avLst/>
            <a:gdLst/>
            <a:ahLst/>
            <a:cxnLst/>
            <a:rect l="l" t="t" r="r" b="b"/>
            <a:pathLst>
              <a:path w="4463885" h="1107452">
                <a:moveTo>
                  <a:pt x="0" y="0"/>
                </a:moveTo>
                <a:lnTo>
                  <a:pt x="4463885" y="0"/>
                </a:lnTo>
                <a:lnTo>
                  <a:pt x="4463885" y="1107453"/>
                </a:lnTo>
                <a:lnTo>
                  <a:pt x="0" y="11074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662908" y="4881040"/>
            <a:ext cx="4337207" cy="1256413"/>
          </a:xfrm>
          <a:custGeom>
            <a:avLst/>
            <a:gdLst/>
            <a:ahLst/>
            <a:cxnLst/>
            <a:rect l="l" t="t" r="r" b="b"/>
            <a:pathLst>
              <a:path w="4337207" h="1256413">
                <a:moveTo>
                  <a:pt x="0" y="0"/>
                </a:moveTo>
                <a:lnTo>
                  <a:pt x="4337207" y="0"/>
                </a:lnTo>
                <a:lnTo>
                  <a:pt x="4337207" y="1256413"/>
                </a:lnTo>
                <a:lnTo>
                  <a:pt x="0" y="1256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0022357" y="7412531"/>
            <a:ext cx="610868" cy="852385"/>
            <a:chOff x="0" y="0"/>
            <a:chExt cx="812800" cy="11341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134154"/>
            </a:xfrm>
            <a:custGeom>
              <a:avLst/>
              <a:gdLst/>
              <a:ahLst/>
              <a:cxnLst/>
              <a:rect l="l" t="t" r="r" b="b"/>
              <a:pathLst>
                <a:path w="812800" h="1134154">
                  <a:moveTo>
                    <a:pt x="406400" y="0"/>
                  </a:moveTo>
                  <a:cubicBezTo>
                    <a:pt x="181951" y="0"/>
                    <a:pt x="0" y="253889"/>
                    <a:pt x="0" y="567077"/>
                  </a:cubicBezTo>
                  <a:cubicBezTo>
                    <a:pt x="0" y="880265"/>
                    <a:pt x="181951" y="1134154"/>
                    <a:pt x="406400" y="1134154"/>
                  </a:cubicBezTo>
                  <a:cubicBezTo>
                    <a:pt x="630849" y="1134154"/>
                    <a:pt x="812800" y="880265"/>
                    <a:pt x="812800" y="567077"/>
                  </a:cubicBezTo>
                  <a:cubicBezTo>
                    <a:pt x="812800" y="2538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A40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87277"/>
              <a:ext cx="660400" cy="94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71567" y="4947715"/>
            <a:ext cx="5538564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499">
                <a:solidFill>
                  <a:srgbClr val="EF9F22"/>
                </a:solidFill>
                <a:latin typeface="Cambria Bold"/>
              </a:rPr>
              <a:t>Other Controlled Variables X(i,d)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71567" y="1935614"/>
            <a:ext cx="7994727" cy="82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12"/>
              </a:lnSpc>
            </a:pPr>
            <a:r>
              <a:rPr lang="en-US" sz="2699">
                <a:solidFill>
                  <a:srgbClr val="EF9F22"/>
                </a:solidFill>
                <a:latin typeface="Cambria Bold"/>
              </a:rPr>
              <a:t>Independent Variable: </a:t>
            </a:r>
          </a:p>
          <a:p>
            <a:pPr>
              <a:lnSpc>
                <a:spcPts val="3212"/>
              </a:lnSpc>
            </a:pPr>
            <a:r>
              <a:rPr lang="en-US" sz="2699">
                <a:solidFill>
                  <a:srgbClr val="EF9F22"/>
                </a:solidFill>
                <a:latin typeface="Cambria Bold"/>
              </a:rPr>
              <a:t>14-day Platform Dependency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24563" y="3076474"/>
            <a:ext cx="292479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4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</a:rPr>
              <a:t>Upsell Capability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8112" y="952500"/>
            <a:ext cx="10658129" cy="59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49"/>
              </a:lnSpc>
              <a:spcBef>
                <a:spcPct val="0"/>
              </a:spcBef>
            </a:pPr>
            <a:r>
              <a:rPr lang="en-US" sz="3392" spc="-67">
                <a:solidFill>
                  <a:srgbClr val="283035"/>
                </a:solidFill>
                <a:latin typeface="Cambria Bold"/>
              </a:rPr>
              <a:t>Variable Constructions &amp; Model Fitting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15343" y="2103311"/>
            <a:ext cx="4359015" cy="93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14"/>
              </a:lnSpc>
            </a:pPr>
            <a:r>
              <a:rPr lang="en-US" sz="2813">
                <a:solidFill>
                  <a:srgbClr val="EF9F22"/>
                </a:solidFill>
                <a:latin typeface="Cambria Bold"/>
              </a:rPr>
              <a:t>Key dependent Variable: Upsell Capability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51030"/>
            <a:chOff x="0" y="0"/>
            <a:chExt cx="4816593" cy="2699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699860"/>
            </a:xfrm>
            <a:custGeom>
              <a:avLst/>
              <a:gdLst/>
              <a:ahLst/>
              <a:cxnLst/>
              <a:rect l="l" t="t" r="r" b="b"/>
              <a:pathLst>
                <a:path w="4816592" h="2699860">
                  <a:moveTo>
                    <a:pt x="0" y="0"/>
                  </a:moveTo>
                  <a:lnTo>
                    <a:pt x="4816592" y="0"/>
                  </a:lnTo>
                  <a:lnTo>
                    <a:pt x="4816592" y="2699860"/>
                  </a:lnTo>
                  <a:lnTo>
                    <a:pt x="0" y="2699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0" cap="sq">
              <a:solidFill>
                <a:srgbClr val="34343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37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07413" y="1554990"/>
            <a:ext cx="10857201" cy="7703310"/>
          </a:xfrm>
          <a:custGeom>
            <a:avLst/>
            <a:gdLst/>
            <a:ahLst/>
            <a:cxnLst/>
            <a:rect l="l" t="t" r="r" b="b"/>
            <a:pathLst>
              <a:path w="10857201" h="7703310">
                <a:moveTo>
                  <a:pt x="0" y="0"/>
                </a:moveTo>
                <a:lnTo>
                  <a:pt x="10857201" y="0"/>
                </a:lnTo>
                <a:lnTo>
                  <a:pt x="10857201" y="7703310"/>
                </a:lnTo>
                <a:lnTo>
                  <a:pt x="0" y="770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172735" y="845407"/>
            <a:ext cx="10658129" cy="59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49"/>
              </a:lnSpc>
              <a:spcBef>
                <a:spcPct val="0"/>
              </a:spcBef>
            </a:pPr>
            <a:r>
              <a:rPr lang="en-US" sz="3392" spc="-67">
                <a:solidFill>
                  <a:srgbClr val="283035"/>
                </a:solidFill>
                <a:latin typeface="Cambria Bold"/>
              </a:rPr>
              <a:t>Median PlatformRatio(i,d) through out Year 2018</a:t>
            </a:r>
          </a:p>
        </p:txBody>
      </p:sp>
      <p:sp>
        <p:nvSpPr>
          <p:cNvPr id="7" name="Freeform 7">
            <a:hlinkClick r:id="rId3" action="ppaction://hlinksldjump"/>
          </p:cNvPr>
          <p:cNvSpPr/>
          <p:nvPr/>
        </p:nvSpPr>
        <p:spPr>
          <a:xfrm>
            <a:off x="12509126" y="1720009"/>
            <a:ext cx="4972201" cy="939022"/>
          </a:xfrm>
          <a:custGeom>
            <a:avLst/>
            <a:gdLst/>
            <a:ahLst/>
            <a:cxnLst/>
            <a:rect l="l" t="t" r="r" b="b"/>
            <a:pathLst>
              <a:path w="4972201" h="939022">
                <a:moveTo>
                  <a:pt x="0" y="0"/>
                </a:moveTo>
                <a:lnTo>
                  <a:pt x="4972201" y="0"/>
                </a:lnTo>
                <a:lnTo>
                  <a:pt x="4972201" y="939022"/>
                </a:lnTo>
                <a:lnTo>
                  <a:pt x="0" y="939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509126" y="3065863"/>
            <a:ext cx="4926688" cy="521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288" lvl="1" indent="-241644">
              <a:lnSpc>
                <a:spcPts val="3783"/>
              </a:lnSpc>
              <a:buFont typeface="Arial"/>
              <a:buChar char="•"/>
            </a:pPr>
            <a:r>
              <a:rPr lang="en-US" sz="2238" spc="82">
                <a:solidFill>
                  <a:srgbClr val="EF9F22"/>
                </a:solidFill>
                <a:latin typeface="Cambria Bold"/>
              </a:rPr>
              <a:t>Fluctuating </a:t>
            </a:r>
            <a:r>
              <a:rPr lang="en-US" sz="2238" spc="82">
                <a:solidFill>
                  <a:srgbClr val="000000"/>
                </a:solidFill>
                <a:latin typeface="Cambria"/>
              </a:rPr>
              <a:t>trends with several peaks and troughs; </a:t>
            </a:r>
          </a:p>
          <a:p>
            <a:pPr>
              <a:lnSpc>
                <a:spcPts val="3783"/>
              </a:lnSpc>
            </a:pPr>
            <a:endParaRPr lang="en-US" sz="2238" spc="82">
              <a:solidFill>
                <a:srgbClr val="000000"/>
              </a:solidFill>
              <a:latin typeface="Cambria"/>
            </a:endParaRPr>
          </a:p>
          <a:p>
            <a:pPr marL="483288" lvl="1" indent="-241644">
              <a:lnSpc>
                <a:spcPts val="3783"/>
              </a:lnSpc>
              <a:buFont typeface="Arial"/>
              <a:buChar char="•"/>
            </a:pPr>
            <a:r>
              <a:rPr lang="en-US" sz="2238" spc="82">
                <a:solidFill>
                  <a:srgbClr val="000000"/>
                </a:solidFill>
                <a:latin typeface="Cambria"/>
              </a:rPr>
              <a:t>A band of approximately </a:t>
            </a:r>
            <a:r>
              <a:rPr lang="en-US" sz="2238" spc="82">
                <a:solidFill>
                  <a:srgbClr val="EF9F22"/>
                </a:solidFill>
                <a:latin typeface="Cambria Bold"/>
              </a:rPr>
              <a:t>10% to just over 30%</a:t>
            </a:r>
            <a:r>
              <a:rPr lang="en-US" sz="2238" spc="82">
                <a:solidFill>
                  <a:srgbClr val="000000"/>
                </a:solidFill>
                <a:latin typeface="Cambria"/>
              </a:rPr>
              <a:t>; </a:t>
            </a:r>
          </a:p>
          <a:p>
            <a:pPr>
              <a:lnSpc>
                <a:spcPts val="3783"/>
              </a:lnSpc>
            </a:pPr>
            <a:endParaRPr lang="en-US" sz="2238" spc="82">
              <a:solidFill>
                <a:srgbClr val="000000"/>
              </a:solidFill>
              <a:latin typeface="Cambria"/>
            </a:endParaRPr>
          </a:p>
          <a:p>
            <a:pPr marL="483288" lvl="1" indent="-241644">
              <a:lnSpc>
                <a:spcPts val="3783"/>
              </a:lnSpc>
              <a:buFont typeface="Arial"/>
              <a:buChar char="•"/>
            </a:pPr>
            <a:r>
              <a:rPr lang="en-US" sz="2238" spc="82">
                <a:solidFill>
                  <a:srgbClr val="000000"/>
                </a:solidFill>
                <a:latin typeface="Cambria"/>
              </a:rPr>
              <a:t>Significant swings in the ratio indicate that the QSR's reliance on platforms is </a:t>
            </a:r>
            <a:r>
              <a:rPr lang="en-US" sz="2238" spc="82">
                <a:solidFill>
                  <a:srgbClr val="EF9F22"/>
                </a:solidFill>
                <a:latin typeface="Cambria Bold"/>
              </a:rPr>
              <a:t>not constant</a:t>
            </a:r>
            <a:r>
              <a:rPr lang="en-US" sz="2238" spc="82">
                <a:solidFill>
                  <a:srgbClr val="000000"/>
                </a:solidFill>
                <a:latin typeface="Cambria"/>
              </a:rPr>
              <a:t> but rather responsive to external or operational influences.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2172735" y="2640030"/>
            <a:ext cx="9990512" cy="19001"/>
          </a:xfrm>
          <a:prstGeom prst="line">
            <a:avLst/>
          </a:prstGeom>
          <a:ln w="38100" cap="flat">
            <a:solidFill>
              <a:srgbClr val="FFA40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V="1">
            <a:off x="2172698" y="6898737"/>
            <a:ext cx="9990512" cy="19001"/>
          </a:xfrm>
          <a:prstGeom prst="line">
            <a:avLst/>
          </a:prstGeom>
          <a:ln w="38100" cap="flat">
            <a:solidFill>
              <a:srgbClr val="FFA40B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0" cap="sq">
              <a:solidFill>
                <a:srgbClr val="34343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44294" y="1979880"/>
            <a:ext cx="8679488" cy="5356648"/>
          </a:xfrm>
          <a:custGeom>
            <a:avLst/>
            <a:gdLst/>
            <a:ahLst/>
            <a:cxnLst/>
            <a:rect l="l" t="t" r="r" b="b"/>
            <a:pathLst>
              <a:path w="8679488" h="5356648">
                <a:moveTo>
                  <a:pt x="0" y="0"/>
                </a:moveTo>
                <a:lnTo>
                  <a:pt x="8679489" y="0"/>
                </a:lnTo>
                <a:lnTo>
                  <a:pt x="8679489" y="5356648"/>
                </a:lnTo>
                <a:lnTo>
                  <a:pt x="0" y="5356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07734" y="942975"/>
            <a:ext cx="7773442" cy="689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89"/>
              </a:lnSpc>
              <a:spcBef>
                <a:spcPct val="0"/>
              </a:spcBef>
            </a:pPr>
            <a:r>
              <a:rPr lang="en-US" sz="3992" spc="-79">
                <a:solidFill>
                  <a:srgbClr val="283035"/>
                </a:solidFill>
                <a:latin typeface="Cambria Bold"/>
              </a:rPr>
              <a:t>Regression Results Interpretation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29718" y="2065789"/>
            <a:ext cx="6529582" cy="490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61"/>
              </a:lnSpc>
            </a:pPr>
            <a:endParaRPr/>
          </a:p>
          <a:p>
            <a:pPr>
              <a:lnSpc>
                <a:spcPts val="3988"/>
              </a:lnSpc>
            </a:pPr>
            <a:r>
              <a:rPr lang="en-US" sz="3216" spc="119">
                <a:solidFill>
                  <a:srgbClr val="000000"/>
                </a:solidFill>
                <a:latin typeface="Cambria"/>
              </a:rPr>
              <a:t>IF increase dependence by 10%:</a:t>
            </a:r>
          </a:p>
          <a:p>
            <a:pPr>
              <a:lnSpc>
                <a:spcPts val="3988"/>
              </a:lnSpc>
            </a:pPr>
            <a:endParaRPr lang="en-US" sz="3216" spc="119">
              <a:solidFill>
                <a:srgbClr val="000000"/>
              </a:solidFill>
              <a:latin typeface="Cambria"/>
            </a:endParaRPr>
          </a:p>
          <a:p>
            <a:pPr>
              <a:lnSpc>
                <a:spcPts val="3861"/>
              </a:lnSpc>
            </a:pPr>
            <a:r>
              <a:rPr lang="en-US" sz="3114" spc="115">
                <a:solidFill>
                  <a:srgbClr val="000000"/>
                </a:solidFill>
                <a:latin typeface="Cambria"/>
              </a:rPr>
              <a:t>=&gt; </a:t>
            </a:r>
            <a:r>
              <a:rPr lang="en-US" sz="3114" spc="115">
                <a:solidFill>
                  <a:srgbClr val="FF3131"/>
                </a:solidFill>
                <a:latin typeface="Cambria Bold"/>
              </a:rPr>
              <a:t>18.63%</a:t>
            </a:r>
            <a:r>
              <a:rPr lang="en-US" sz="3114" spc="115">
                <a:solidFill>
                  <a:srgbClr val="FFA40B"/>
                </a:solidFill>
                <a:latin typeface="Cambria Bold"/>
              </a:rPr>
              <a:t> </a:t>
            </a:r>
            <a:r>
              <a:rPr lang="en-US" sz="3114" spc="115">
                <a:solidFill>
                  <a:srgbClr val="000000"/>
                </a:solidFill>
                <a:latin typeface="Cambria"/>
              </a:rPr>
              <a:t>reduction in upselling revenue (measure1); </a:t>
            </a:r>
          </a:p>
          <a:p>
            <a:pPr>
              <a:lnSpc>
                <a:spcPts val="3861"/>
              </a:lnSpc>
            </a:pPr>
            <a:endParaRPr lang="en-US" sz="3114" spc="115">
              <a:solidFill>
                <a:srgbClr val="000000"/>
              </a:solidFill>
              <a:latin typeface="Cambria"/>
            </a:endParaRPr>
          </a:p>
          <a:p>
            <a:pPr>
              <a:lnSpc>
                <a:spcPts val="3861"/>
              </a:lnSpc>
            </a:pPr>
            <a:r>
              <a:rPr lang="en-US" sz="3114" spc="115">
                <a:solidFill>
                  <a:srgbClr val="000000"/>
                </a:solidFill>
                <a:latin typeface="Cambria"/>
              </a:rPr>
              <a:t>=&gt; </a:t>
            </a:r>
            <a:r>
              <a:rPr lang="en-US" sz="3114" spc="115">
                <a:solidFill>
                  <a:srgbClr val="FF3131"/>
                </a:solidFill>
                <a:latin typeface="Cambria Bold"/>
              </a:rPr>
              <a:t>20.05%</a:t>
            </a:r>
            <a:r>
              <a:rPr lang="en-US" sz="3114" spc="115">
                <a:solidFill>
                  <a:srgbClr val="FF3131"/>
                </a:solidFill>
                <a:latin typeface="Cambria"/>
              </a:rPr>
              <a:t> </a:t>
            </a:r>
            <a:r>
              <a:rPr lang="en-US" sz="3114" spc="115">
                <a:solidFill>
                  <a:srgbClr val="000000"/>
                </a:solidFill>
                <a:latin typeface="Cambria"/>
              </a:rPr>
              <a:t>reduction in upsold transactions (measure2);</a:t>
            </a:r>
          </a:p>
          <a:p>
            <a:pPr>
              <a:lnSpc>
                <a:spcPts val="3861"/>
              </a:lnSpc>
            </a:pPr>
            <a:endParaRPr lang="en-US" sz="3114" spc="115">
              <a:solidFill>
                <a:srgbClr val="000000"/>
              </a:solidFill>
              <a:latin typeface="Cambria"/>
            </a:endParaRPr>
          </a:p>
          <a:p>
            <a:pPr>
              <a:lnSpc>
                <a:spcPts val="3861"/>
              </a:lnSpc>
            </a:pPr>
            <a:r>
              <a:rPr lang="en-US" sz="3114" spc="115">
                <a:solidFill>
                  <a:srgbClr val="000000"/>
                </a:solidFill>
                <a:latin typeface="Cambria"/>
              </a:rPr>
              <a:t>=&gt; Reject H0.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05393" y="7602432"/>
            <a:ext cx="15551566" cy="99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42"/>
              </a:lnSpc>
            </a:pPr>
            <a:r>
              <a:rPr lang="en-US" sz="2887" spc="106">
                <a:solidFill>
                  <a:srgbClr val="000000"/>
                </a:solidFill>
                <a:latin typeface="Montserrat Classic Bold"/>
              </a:rPr>
              <a:t>Key finding</a:t>
            </a:r>
            <a:r>
              <a:rPr lang="en-US" sz="2887" spc="106">
                <a:solidFill>
                  <a:srgbClr val="000000"/>
                </a:solidFill>
                <a:latin typeface="Montserrat Classic"/>
              </a:rPr>
              <a:t>: an increased reliance on 3rd-party OFD platforms is linked to a discernible </a:t>
            </a:r>
            <a:r>
              <a:rPr lang="en-US" sz="2887" spc="106">
                <a:solidFill>
                  <a:srgbClr val="FF3131"/>
                </a:solidFill>
                <a:latin typeface="Montserrat Classic"/>
              </a:rPr>
              <a:t>deterioration</a:t>
            </a:r>
            <a:r>
              <a:rPr lang="en-US" sz="2887" spc="106">
                <a:solidFill>
                  <a:srgbClr val="000000"/>
                </a:solidFill>
                <a:latin typeface="Montserrat Classic"/>
              </a:rPr>
              <a:t> in a restaurant's ability to upsell.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277275" y="-2694906"/>
            <a:ext cx="3964049" cy="396404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72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904968" y="8918951"/>
            <a:ext cx="2649263" cy="264926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72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33448" y="374453"/>
            <a:ext cx="17021103" cy="3970203"/>
            <a:chOff x="0" y="0"/>
            <a:chExt cx="4482924" cy="10456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82924" cy="1045650"/>
            </a:xfrm>
            <a:custGeom>
              <a:avLst/>
              <a:gdLst/>
              <a:ahLst/>
              <a:cxnLst/>
              <a:rect l="l" t="t" r="r" b="b"/>
              <a:pathLst>
                <a:path w="4482924" h="1045650">
                  <a:moveTo>
                    <a:pt x="0" y="0"/>
                  </a:moveTo>
                  <a:lnTo>
                    <a:pt x="4482924" y="0"/>
                  </a:lnTo>
                  <a:lnTo>
                    <a:pt x="4482924" y="1045650"/>
                  </a:lnTo>
                  <a:lnTo>
                    <a:pt x="0" y="1045650"/>
                  </a:lnTo>
                  <a:close/>
                </a:path>
              </a:pathLst>
            </a:custGeom>
            <a:solidFill>
              <a:srgbClr val="AB722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482924" cy="106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3448" y="374453"/>
            <a:ext cx="17021103" cy="4008450"/>
            <a:chOff x="0" y="0"/>
            <a:chExt cx="22694804" cy="5344599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96000"/>
            </a:blip>
            <a:srcRect t="27286" b="55051"/>
            <a:stretch>
              <a:fillRect/>
            </a:stretch>
          </p:blipFill>
          <p:spPr>
            <a:xfrm>
              <a:off x="0" y="0"/>
              <a:ext cx="22694804" cy="5344599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6596044" y="4621028"/>
            <a:ext cx="47625" cy="4637272"/>
            <a:chOff x="0" y="0"/>
            <a:chExt cx="12543" cy="12213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43" cy="1221339"/>
            </a:xfrm>
            <a:custGeom>
              <a:avLst/>
              <a:gdLst/>
              <a:ahLst/>
              <a:cxnLst/>
              <a:rect l="l" t="t" r="r" b="b"/>
              <a:pathLst>
                <a:path w="12543" h="1221339">
                  <a:moveTo>
                    <a:pt x="0" y="0"/>
                  </a:moveTo>
                  <a:lnTo>
                    <a:pt x="12543" y="0"/>
                  </a:lnTo>
                  <a:lnTo>
                    <a:pt x="12543" y="1221339"/>
                  </a:lnTo>
                  <a:lnTo>
                    <a:pt x="0" y="1221339"/>
                  </a:lnTo>
                  <a:close/>
                </a:path>
              </a:pathLst>
            </a:custGeom>
            <a:solidFill>
              <a:srgbClr val="FFA4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2543" cy="1240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44331" y="4621028"/>
            <a:ext cx="47625" cy="4637272"/>
            <a:chOff x="0" y="0"/>
            <a:chExt cx="12543" cy="122133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43" cy="1221339"/>
            </a:xfrm>
            <a:custGeom>
              <a:avLst/>
              <a:gdLst/>
              <a:ahLst/>
              <a:cxnLst/>
              <a:rect l="l" t="t" r="r" b="b"/>
              <a:pathLst>
                <a:path w="12543" h="1221339">
                  <a:moveTo>
                    <a:pt x="0" y="0"/>
                  </a:moveTo>
                  <a:lnTo>
                    <a:pt x="12543" y="0"/>
                  </a:lnTo>
                  <a:lnTo>
                    <a:pt x="12543" y="1221339"/>
                  </a:lnTo>
                  <a:lnTo>
                    <a:pt x="0" y="1221339"/>
                  </a:lnTo>
                  <a:close/>
                </a:path>
              </a:pathLst>
            </a:custGeom>
            <a:solidFill>
              <a:srgbClr val="FFA4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2543" cy="1240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614887" y="5046052"/>
            <a:ext cx="960915" cy="1106089"/>
          </a:xfrm>
          <a:custGeom>
            <a:avLst/>
            <a:gdLst/>
            <a:ahLst/>
            <a:cxnLst/>
            <a:rect l="l" t="t" r="r" b="b"/>
            <a:pathLst>
              <a:path w="960915" h="1106089">
                <a:moveTo>
                  <a:pt x="0" y="0"/>
                </a:moveTo>
                <a:lnTo>
                  <a:pt x="960914" y="0"/>
                </a:lnTo>
                <a:lnTo>
                  <a:pt x="960914" y="1106089"/>
                </a:lnTo>
                <a:lnTo>
                  <a:pt x="0" y="1106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8542325" y="5046052"/>
            <a:ext cx="1202270" cy="1106089"/>
          </a:xfrm>
          <a:custGeom>
            <a:avLst/>
            <a:gdLst/>
            <a:ahLst/>
            <a:cxnLst/>
            <a:rect l="l" t="t" r="r" b="b"/>
            <a:pathLst>
              <a:path w="1202270" h="1106089">
                <a:moveTo>
                  <a:pt x="0" y="0"/>
                </a:moveTo>
                <a:lnTo>
                  <a:pt x="1202270" y="0"/>
                </a:lnTo>
                <a:lnTo>
                  <a:pt x="1202270" y="1106089"/>
                </a:lnTo>
                <a:lnTo>
                  <a:pt x="0" y="1106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3901887" y="4921323"/>
            <a:ext cx="1152837" cy="1152837"/>
          </a:xfrm>
          <a:custGeom>
            <a:avLst/>
            <a:gdLst/>
            <a:ahLst/>
            <a:cxnLst/>
            <a:rect l="l" t="t" r="r" b="b"/>
            <a:pathLst>
              <a:path w="1152837" h="1152837">
                <a:moveTo>
                  <a:pt x="0" y="0"/>
                </a:moveTo>
                <a:lnTo>
                  <a:pt x="1152837" y="0"/>
                </a:lnTo>
                <a:lnTo>
                  <a:pt x="1152837" y="1152837"/>
                </a:lnTo>
                <a:lnTo>
                  <a:pt x="0" y="11528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rot="1798046">
            <a:off x="15101926" y="4917780"/>
            <a:ext cx="2895474" cy="2312760"/>
          </a:xfrm>
          <a:custGeom>
            <a:avLst/>
            <a:gdLst/>
            <a:ahLst/>
            <a:cxnLst/>
            <a:rect l="l" t="t" r="r" b="b"/>
            <a:pathLst>
              <a:path w="2895474" h="2312760">
                <a:moveTo>
                  <a:pt x="0" y="0"/>
                </a:moveTo>
                <a:lnTo>
                  <a:pt x="2895475" y="0"/>
                </a:lnTo>
                <a:lnTo>
                  <a:pt x="2895475" y="2312760"/>
                </a:lnTo>
                <a:lnTo>
                  <a:pt x="0" y="2312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4386113" y="1035316"/>
            <a:ext cx="9515774" cy="153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02"/>
              </a:lnSpc>
              <a:spcBef>
                <a:spcPct val="0"/>
              </a:spcBef>
            </a:pPr>
            <a:r>
              <a:rPr lang="en-US" sz="8335" spc="816">
                <a:solidFill>
                  <a:srgbClr val="FFFFFF"/>
                </a:solidFill>
                <a:latin typeface="Codec Pro ExtraBold"/>
              </a:rPr>
              <a:t>MODERATORS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35242" y="2867433"/>
            <a:ext cx="6617517" cy="418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461"/>
              </a:lnSpc>
              <a:spcBef>
                <a:spcPct val="0"/>
              </a:spcBef>
            </a:pPr>
            <a:r>
              <a:rPr lang="en-US" sz="2508" spc="245">
                <a:solidFill>
                  <a:srgbClr val="FFFFFF"/>
                </a:solidFill>
                <a:latin typeface="Open Sauce"/>
              </a:rPr>
              <a:t>...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77144" y="6374730"/>
            <a:ext cx="2732632" cy="351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</a:pPr>
            <a:r>
              <a:rPr lang="en-US" sz="2141" spc="209">
                <a:solidFill>
                  <a:srgbClr val="231F20"/>
                </a:solidFill>
                <a:latin typeface="Open Sauce Bold"/>
              </a:rPr>
              <a:t>Party Size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29028" y="6274034"/>
            <a:ext cx="2732632" cy="72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</a:pPr>
            <a:r>
              <a:rPr lang="en-US" sz="2141" spc="209">
                <a:solidFill>
                  <a:srgbClr val="231F20"/>
                </a:solidFill>
                <a:latin typeface="Open Sauce Bold"/>
              </a:rPr>
              <a:t>Party Composition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27899" y="6188993"/>
            <a:ext cx="3365062" cy="72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</a:pPr>
            <a:r>
              <a:rPr lang="en-US" sz="2141" spc="209">
                <a:solidFill>
                  <a:srgbClr val="231F20"/>
                </a:solidFill>
                <a:latin typeface="Open Sauce Bold"/>
              </a:rPr>
              <a:t>Peak Mealtime Distribution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75634" y="7085133"/>
            <a:ext cx="4439419" cy="1872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5"/>
              </a:lnSpc>
            </a:pPr>
            <a:r>
              <a:rPr lang="en-US" sz="1844" spc="116">
                <a:solidFill>
                  <a:srgbClr val="231F20"/>
                </a:solidFill>
                <a:latin typeface="Open Sauce"/>
              </a:rPr>
              <a:t>Various customer’s traits such as age, gender, affluence, and ethnic background, etc.</a:t>
            </a:r>
          </a:p>
          <a:p>
            <a:pPr algn="just">
              <a:lnSpc>
                <a:spcPts val="2545"/>
              </a:lnSpc>
            </a:pPr>
            <a:endParaRPr lang="en-US" sz="1844" spc="116">
              <a:solidFill>
                <a:srgbClr val="231F20"/>
              </a:solidFill>
              <a:latin typeface="Open Sauce"/>
            </a:endParaRPr>
          </a:p>
          <a:p>
            <a:pPr algn="just">
              <a:lnSpc>
                <a:spcPts val="2545"/>
              </a:lnSpc>
            </a:pPr>
            <a:r>
              <a:rPr lang="en-US" sz="1844" spc="116">
                <a:solidFill>
                  <a:srgbClr val="231F20"/>
                </a:solidFill>
                <a:latin typeface="Open Sauce"/>
              </a:rPr>
              <a:t>Use </a:t>
            </a:r>
            <a:r>
              <a:rPr lang="en-US" sz="1844" spc="116">
                <a:solidFill>
                  <a:srgbClr val="231F20"/>
                </a:solidFill>
                <a:latin typeface="Open Sauce Bold"/>
              </a:rPr>
              <a:t>Affluence Level</a:t>
            </a:r>
            <a:r>
              <a:rPr lang="en-US" sz="1844" spc="116">
                <a:solidFill>
                  <a:srgbClr val="231F20"/>
                </a:solidFill>
                <a:latin typeface="Open Sauce"/>
              </a:rPr>
              <a:t> in this case</a:t>
            </a:r>
          </a:p>
          <a:p>
            <a:pPr algn="just">
              <a:lnSpc>
                <a:spcPts val="2545"/>
              </a:lnSpc>
            </a:pPr>
            <a:endParaRPr lang="en-US" sz="1844" spc="116">
              <a:solidFill>
                <a:srgbClr val="231F20"/>
              </a:solidFill>
              <a:latin typeface="Open Sauce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296923" y="6882989"/>
            <a:ext cx="3905025" cy="2122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7"/>
              </a:lnSpc>
            </a:pPr>
            <a:r>
              <a:rPr lang="en-US" sz="1744" spc="116">
                <a:solidFill>
                  <a:srgbClr val="231F20"/>
                </a:solidFill>
                <a:latin typeface="Open Sauce"/>
              </a:rPr>
              <a:t>Number of customers seated together at one table, with certain restaurants attracting larger groups, while others cater to a more personal dining experience.</a:t>
            </a:r>
          </a:p>
          <a:p>
            <a:pPr algn="just">
              <a:lnSpc>
                <a:spcPts val="2407"/>
              </a:lnSpc>
            </a:pPr>
            <a:endParaRPr lang="en-US" sz="1744" spc="116">
              <a:solidFill>
                <a:srgbClr val="231F20"/>
              </a:solidFill>
              <a:latin typeface="Open Sauce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452758" y="7033071"/>
            <a:ext cx="4315344" cy="2122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sz="1744" spc="170">
                <a:solidFill>
                  <a:srgbClr val="231F20"/>
                </a:solidFill>
                <a:latin typeface="Open Sauce"/>
              </a:rPr>
              <a:t>How customer demand spreads throughout the day. Some stores experiencing rushes during lunch hours but quieter dinners, and others maintaining a steady flow during both major mealtimes.</a:t>
            </a:r>
          </a:p>
          <a:p>
            <a:pPr algn="ctr">
              <a:lnSpc>
                <a:spcPts val="2407"/>
              </a:lnSpc>
            </a:pPr>
            <a:endParaRPr lang="en-US" sz="1744" spc="170">
              <a:solidFill>
                <a:srgbClr val="231F20"/>
              </a:solidFill>
              <a:latin typeface="Open Sauce"/>
            </a:endParaRPr>
          </a:p>
        </p:txBody>
      </p:sp>
      <p:sp>
        <p:nvSpPr>
          <p:cNvPr id="26" name="Freeform 26"/>
          <p:cNvSpPr/>
          <p:nvPr/>
        </p:nvSpPr>
        <p:spPr>
          <a:xfrm rot="1184246">
            <a:off x="4246006" y="4468389"/>
            <a:ext cx="2746681" cy="2193911"/>
          </a:xfrm>
          <a:custGeom>
            <a:avLst/>
            <a:gdLst/>
            <a:ahLst/>
            <a:cxnLst/>
            <a:rect l="l" t="t" r="r" b="b"/>
            <a:pathLst>
              <a:path w="2746681" h="2193911">
                <a:moveTo>
                  <a:pt x="0" y="0"/>
                </a:moveTo>
                <a:lnTo>
                  <a:pt x="2746681" y="0"/>
                </a:lnTo>
                <a:lnTo>
                  <a:pt x="2746681" y="2193912"/>
                </a:lnTo>
                <a:lnTo>
                  <a:pt x="0" y="21939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 rot="1223731">
            <a:off x="4168668" y="4815954"/>
            <a:ext cx="3061446" cy="97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5"/>
              </a:lnSpc>
            </a:pPr>
            <a:r>
              <a:rPr lang="en-US" sz="1981">
                <a:solidFill>
                  <a:srgbClr val="000000"/>
                </a:solidFill>
                <a:latin typeface="Open Sauce"/>
              </a:rPr>
              <a:t>CoreMenu Rev</a:t>
            </a:r>
          </a:p>
          <a:p>
            <a:pPr algn="ctr">
              <a:lnSpc>
                <a:spcPts val="2575"/>
              </a:lnSpc>
            </a:pPr>
            <a:r>
              <a:rPr lang="en-US" sz="1981">
                <a:solidFill>
                  <a:srgbClr val="000000"/>
                </a:solidFill>
                <a:latin typeface="Open Sauce"/>
              </a:rPr>
              <a:t> /</a:t>
            </a:r>
          </a:p>
          <a:p>
            <a:pPr algn="ctr">
              <a:lnSpc>
                <a:spcPts val="2575"/>
              </a:lnSpc>
              <a:spcBef>
                <a:spcPct val="0"/>
              </a:spcBef>
            </a:pPr>
            <a:r>
              <a:rPr lang="en-US" sz="1981">
                <a:solidFill>
                  <a:srgbClr val="000000"/>
                </a:solidFill>
                <a:latin typeface="Open Sauce"/>
              </a:rPr>
              <a:t>#CoreMenu Order</a:t>
            </a:r>
          </a:p>
        </p:txBody>
      </p:sp>
      <p:sp>
        <p:nvSpPr>
          <p:cNvPr id="28" name="Freeform 28"/>
          <p:cNvSpPr/>
          <p:nvPr/>
        </p:nvSpPr>
        <p:spPr>
          <a:xfrm rot="1184246">
            <a:off x="9539205" y="4502140"/>
            <a:ext cx="2746681" cy="2193911"/>
          </a:xfrm>
          <a:custGeom>
            <a:avLst/>
            <a:gdLst/>
            <a:ahLst/>
            <a:cxnLst/>
            <a:rect l="l" t="t" r="r" b="b"/>
            <a:pathLst>
              <a:path w="2746681" h="2193911">
                <a:moveTo>
                  <a:pt x="0" y="0"/>
                </a:moveTo>
                <a:lnTo>
                  <a:pt x="2746681" y="0"/>
                </a:lnTo>
                <a:lnTo>
                  <a:pt x="2746681" y="2193912"/>
                </a:lnTo>
                <a:lnTo>
                  <a:pt x="0" y="21939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 rot="1223731">
            <a:off x="9479923" y="4868016"/>
            <a:ext cx="3061446" cy="97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5"/>
              </a:lnSpc>
            </a:pPr>
            <a:r>
              <a:rPr lang="en-US" sz="1981">
                <a:solidFill>
                  <a:srgbClr val="000000"/>
                </a:solidFill>
                <a:latin typeface="Open Sauce"/>
              </a:rPr>
              <a:t>#of CoreMenu item</a:t>
            </a:r>
          </a:p>
          <a:p>
            <a:pPr algn="ctr">
              <a:lnSpc>
                <a:spcPts val="2575"/>
              </a:lnSpc>
            </a:pPr>
            <a:r>
              <a:rPr lang="en-US" sz="1981">
                <a:solidFill>
                  <a:srgbClr val="000000"/>
                </a:solidFill>
                <a:latin typeface="Open Sauce"/>
              </a:rPr>
              <a:t>ordered </a:t>
            </a:r>
          </a:p>
          <a:p>
            <a:pPr algn="ctr">
              <a:lnSpc>
                <a:spcPts val="2575"/>
              </a:lnSpc>
              <a:spcBef>
                <a:spcPct val="0"/>
              </a:spcBef>
            </a:pPr>
            <a:r>
              <a:rPr lang="en-US" sz="1981">
                <a:solidFill>
                  <a:srgbClr val="000000"/>
                </a:solidFill>
                <a:latin typeface="Open Sauce"/>
              </a:rPr>
              <a:t>(each transection)</a:t>
            </a:r>
          </a:p>
        </p:txBody>
      </p:sp>
      <p:sp>
        <p:nvSpPr>
          <p:cNvPr id="30" name="TextBox 30"/>
          <p:cNvSpPr txBox="1"/>
          <p:nvPr/>
        </p:nvSpPr>
        <p:spPr>
          <a:xfrm rot="1919036">
            <a:off x="15098657" y="5287620"/>
            <a:ext cx="3061446" cy="97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5"/>
              </a:lnSpc>
            </a:pPr>
            <a:r>
              <a:rPr lang="en-US" sz="1981">
                <a:solidFill>
                  <a:srgbClr val="000000"/>
                </a:solidFill>
                <a:latin typeface="Open Sauce"/>
              </a:rPr>
              <a:t>#(lunch)Transaction</a:t>
            </a:r>
          </a:p>
          <a:p>
            <a:pPr algn="ctr">
              <a:lnSpc>
                <a:spcPts val="2575"/>
              </a:lnSpc>
            </a:pPr>
            <a:r>
              <a:rPr lang="en-US" sz="1981">
                <a:solidFill>
                  <a:srgbClr val="000000"/>
                </a:solidFill>
                <a:latin typeface="Open Sauce"/>
              </a:rPr>
              <a:t>/</a:t>
            </a:r>
          </a:p>
          <a:p>
            <a:pPr algn="ctr">
              <a:lnSpc>
                <a:spcPts val="2575"/>
              </a:lnSpc>
              <a:spcBef>
                <a:spcPct val="0"/>
              </a:spcBef>
            </a:pPr>
            <a:r>
              <a:rPr lang="en-US" sz="1981">
                <a:solidFill>
                  <a:srgbClr val="000000"/>
                </a:solidFill>
                <a:latin typeface="Open Sauce"/>
              </a:rPr>
              <a:t>#(dinner)Transaction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3170" y="4716278"/>
            <a:ext cx="5519547" cy="3902492"/>
          </a:xfrm>
          <a:custGeom>
            <a:avLst/>
            <a:gdLst/>
            <a:ahLst/>
            <a:cxnLst/>
            <a:rect l="l" t="t" r="r" b="b"/>
            <a:pathLst>
              <a:path w="5519547" h="3902492">
                <a:moveTo>
                  <a:pt x="0" y="0"/>
                </a:moveTo>
                <a:lnTo>
                  <a:pt x="5519547" y="0"/>
                </a:lnTo>
                <a:lnTo>
                  <a:pt x="5519547" y="3902492"/>
                </a:lnTo>
                <a:lnTo>
                  <a:pt x="0" y="3902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333279" y="4610657"/>
            <a:ext cx="5621442" cy="4008113"/>
          </a:xfrm>
          <a:custGeom>
            <a:avLst/>
            <a:gdLst/>
            <a:ahLst/>
            <a:cxnLst/>
            <a:rect l="l" t="t" r="r" b="b"/>
            <a:pathLst>
              <a:path w="5621442" h="4008113">
                <a:moveTo>
                  <a:pt x="0" y="0"/>
                </a:moveTo>
                <a:lnTo>
                  <a:pt x="5621442" y="0"/>
                </a:lnTo>
                <a:lnTo>
                  <a:pt x="5621442" y="4008113"/>
                </a:lnTo>
                <a:lnTo>
                  <a:pt x="0" y="4008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21421" y="4675262"/>
            <a:ext cx="5576170" cy="3943508"/>
          </a:xfrm>
          <a:custGeom>
            <a:avLst/>
            <a:gdLst/>
            <a:ahLst/>
            <a:cxnLst/>
            <a:rect l="l" t="t" r="r" b="b"/>
            <a:pathLst>
              <a:path w="5576170" h="3943508">
                <a:moveTo>
                  <a:pt x="0" y="0"/>
                </a:moveTo>
                <a:lnTo>
                  <a:pt x="5576170" y="0"/>
                </a:lnTo>
                <a:lnTo>
                  <a:pt x="5576170" y="3943508"/>
                </a:lnTo>
                <a:lnTo>
                  <a:pt x="0" y="3943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76488" y="364083"/>
            <a:ext cx="17021103" cy="4008450"/>
            <a:chOff x="0" y="0"/>
            <a:chExt cx="22694804" cy="534459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alphaModFix amt="96000"/>
            </a:blip>
            <a:srcRect t="27286" b="55051"/>
            <a:stretch>
              <a:fillRect/>
            </a:stretch>
          </p:blipFill>
          <p:spPr>
            <a:xfrm>
              <a:off x="0" y="0"/>
              <a:ext cx="22694804" cy="5344599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4386113" y="1035316"/>
            <a:ext cx="9515774" cy="153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02"/>
              </a:lnSpc>
              <a:spcBef>
                <a:spcPct val="0"/>
              </a:spcBef>
            </a:pPr>
            <a:r>
              <a:rPr lang="en-US" sz="8335" spc="816">
                <a:solidFill>
                  <a:srgbClr val="FFFFFF"/>
                </a:solidFill>
                <a:latin typeface="Codec Pro ExtraBold"/>
              </a:rPr>
              <a:t>MODERATORS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40243" y="8941082"/>
            <a:ext cx="2732632" cy="31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sz="1941" spc="190">
                <a:solidFill>
                  <a:srgbClr val="231F20"/>
                </a:solidFill>
                <a:latin typeface="Open Sauce Bold"/>
              </a:rPr>
              <a:t>Party Composition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08453" y="8941082"/>
            <a:ext cx="2732632" cy="31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sz="1941" spc="190">
                <a:solidFill>
                  <a:srgbClr val="231F20"/>
                </a:solidFill>
                <a:latin typeface="Open Sauce Bold"/>
              </a:rPr>
              <a:t>Party Size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00797" y="8826973"/>
            <a:ext cx="3365062" cy="650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sz="1941" spc="190">
                <a:solidFill>
                  <a:srgbClr val="231F20"/>
                </a:solidFill>
                <a:latin typeface="Open Sauce Bold"/>
              </a:rPr>
              <a:t>Peak Mealtime Distribution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97286" y="4737828"/>
            <a:ext cx="1658561" cy="3601371"/>
            <a:chOff x="0" y="0"/>
            <a:chExt cx="562979" cy="12224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2979" cy="1222444"/>
            </a:xfrm>
            <a:custGeom>
              <a:avLst/>
              <a:gdLst/>
              <a:ahLst/>
              <a:cxnLst/>
              <a:rect l="l" t="t" r="r" b="b"/>
              <a:pathLst>
                <a:path w="562979" h="1222444">
                  <a:moveTo>
                    <a:pt x="281490" y="0"/>
                  </a:moveTo>
                  <a:cubicBezTo>
                    <a:pt x="126027" y="0"/>
                    <a:pt x="0" y="273653"/>
                    <a:pt x="0" y="611222"/>
                  </a:cubicBezTo>
                  <a:cubicBezTo>
                    <a:pt x="0" y="948790"/>
                    <a:pt x="126027" y="1222444"/>
                    <a:pt x="281490" y="1222444"/>
                  </a:cubicBezTo>
                  <a:cubicBezTo>
                    <a:pt x="436952" y="1222444"/>
                    <a:pt x="562979" y="948790"/>
                    <a:pt x="562979" y="611222"/>
                  </a:cubicBezTo>
                  <a:cubicBezTo>
                    <a:pt x="562979" y="273653"/>
                    <a:pt x="436952" y="0"/>
                    <a:pt x="2814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A40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779" y="95554"/>
              <a:ext cx="457421" cy="10122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96332" y="4737828"/>
            <a:ext cx="2156873" cy="4007042"/>
            <a:chOff x="0" y="0"/>
            <a:chExt cx="732126" cy="13601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2126" cy="1360144"/>
            </a:xfrm>
            <a:custGeom>
              <a:avLst/>
              <a:gdLst/>
              <a:ahLst/>
              <a:cxnLst/>
              <a:rect l="l" t="t" r="r" b="b"/>
              <a:pathLst>
                <a:path w="732126" h="1360144">
                  <a:moveTo>
                    <a:pt x="366063" y="0"/>
                  </a:moveTo>
                  <a:cubicBezTo>
                    <a:pt x="163892" y="0"/>
                    <a:pt x="0" y="304479"/>
                    <a:pt x="0" y="680072"/>
                  </a:cubicBezTo>
                  <a:cubicBezTo>
                    <a:pt x="0" y="1055666"/>
                    <a:pt x="163892" y="1360144"/>
                    <a:pt x="366063" y="1360144"/>
                  </a:cubicBezTo>
                  <a:cubicBezTo>
                    <a:pt x="568234" y="1360144"/>
                    <a:pt x="732126" y="1055666"/>
                    <a:pt x="732126" y="680072"/>
                  </a:cubicBezTo>
                  <a:cubicBezTo>
                    <a:pt x="732126" y="304479"/>
                    <a:pt x="568234" y="0"/>
                    <a:pt x="3660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A40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637" y="108464"/>
              <a:ext cx="594852" cy="1124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319264" y="4675262"/>
            <a:ext cx="2004473" cy="4007042"/>
            <a:chOff x="0" y="0"/>
            <a:chExt cx="680395" cy="13601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0395" cy="1360144"/>
            </a:xfrm>
            <a:custGeom>
              <a:avLst/>
              <a:gdLst/>
              <a:ahLst/>
              <a:cxnLst/>
              <a:rect l="l" t="t" r="r" b="b"/>
              <a:pathLst>
                <a:path w="680395" h="1360144">
                  <a:moveTo>
                    <a:pt x="340198" y="0"/>
                  </a:moveTo>
                  <a:cubicBezTo>
                    <a:pt x="152312" y="0"/>
                    <a:pt x="0" y="304479"/>
                    <a:pt x="0" y="680072"/>
                  </a:cubicBezTo>
                  <a:cubicBezTo>
                    <a:pt x="0" y="1055666"/>
                    <a:pt x="152312" y="1360144"/>
                    <a:pt x="340198" y="1360144"/>
                  </a:cubicBezTo>
                  <a:cubicBezTo>
                    <a:pt x="528084" y="1360144"/>
                    <a:pt x="680395" y="1055666"/>
                    <a:pt x="680395" y="680072"/>
                  </a:cubicBezTo>
                  <a:cubicBezTo>
                    <a:pt x="680395" y="304479"/>
                    <a:pt x="528084" y="0"/>
                    <a:pt x="3401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A40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87" y="108464"/>
              <a:ext cx="552821" cy="1124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08018" y="7351964"/>
            <a:ext cx="1658561" cy="1330341"/>
            <a:chOff x="0" y="0"/>
            <a:chExt cx="562979" cy="451569"/>
          </a:xfrm>
        </p:grpSpPr>
        <p:sp>
          <p:nvSpPr>
            <p:cNvPr id="21" name="Freeform 21">
              <a:hlinkClick r:id="rId6" action="ppaction://hlinksldjump"/>
            </p:cNvPr>
            <p:cNvSpPr/>
            <p:nvPr/>
          </p:nvSpPr>
          <p:spPr>
            <a:xfrm>
              <a:off x="0" y="0"/>
              <a:ext cx="562979" cy="451569"/>
            </a:xfrm>
            <a:custGeom>
              <a:avLst/>
              <a:gdLst/>
              <a:ahLst/>
              <a:cxnLst/>
              <a:rect l="l" t="t" r="r" b="b"/>
              <a:pathLst>
                <a:path w="562979" h="451569">
                  <a:moveTo>
                    <a:pt x="281490" y="0"/>
                  </a:moveTo>
                  <a:cubicBezTo>
                    <a:pt x="126027" y="0"/>
                    <a:pt x="0" y="101087"/>
                    <a:pt x="0" y="225784"/>
                  </a:cubicBezTo>
                  <a:cubicBezTo>
                    <a:pt x="0" y="350482"/>
                    <a:pt x="126027" y="451569"/>
                    <a:pt x="281490" y="451569"/>
                  </a:cubicBezTo>
                  <a:cubicBezTo>
                    <a:pt x="436952" y="451569"/>
                    <a:pt x="562979" y="350482"/>
                    <a:pt x="562979" y="225784"/>
                  </a:cubicBezTo>
                  <a:cubicBezTo>
                    <a:pt x="562979" y="101087"/>
                    <a:pt x="436952" y="0"/>
                    <a:pt x="2814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79" y="23285"/>
              <a:ext cx="457421" cy="38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7448"/>
            <a:ext cx="18288000" cy="10251030"/>
            <a:chOff x="0" y="0"/>
            <a:chExt cx="4816593" cy="2699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699860"/>
            </a:xfrm>
            <a:custGeom>
              <a:avLst/>
              <a:gdLst/>
              <a:ahLst/>
              <a:cxnLst/>
              <a:rect l="l" t="t" r="r" b="b"/>
              <a:pathLst>
                <a:path w="4816592" h="2699860">
                  <a:moveTo>
                    <a:pt x="0" y="0"/>
                  </a:moveTo>
                  <a:lnTo>
                    <a:pt x="4816592" y="0"/>
                  </a:lnTo>
                  <a:lnTo>
                    <a:pt x="4816592" y="2699860"/>
                  </a:lnTo>
                  <a:lnTo>
                    <a:pt x="0" y="26998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0" cap="sq">
              <a:solidFill>
                <a:srgbClr val="34343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37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77275" y="-2694906"/>
            <a:ext cx="3964049" cy="396404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72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904968" y="8918951"/>
            <a:ext cx="2649263" cy="26492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72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65387" y="7889169"/>
            <a:ext cx="12590501" cy="741587"/>
          </a:xfrm>
          <a:custGeom>
            <a:avLst/>
            <a:gdLst/>
            <a:ahLst/>
            <a:cxnLst/>
            <a:rect l="l" t="t" r="r" b="b"/>
            <a:pathLst>
              <a:path w="12590501" h="741587">
                <a:moveTo>
                  <a:pt x="0" y="0"/>
                </a:moveTo>
                <a:lnTo>
                  <a:pt x="12590501" y="0"/>
                </a:lnTo>
                <a:lnTo>
                  <a:pt x="12590501" y="741587"/>
                </a:lnTo>
                <a:lnTo>
                  <a:pt x="0" y="741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171542" y="1729508"/>
            <a:ext cx="10698643" cy="5845336"/>
          </a:xfrm>
          <a:custGeom>
            <a:avLst/>
            <a:gdLst/>
            <a:ahLst/>
            <a:cxnLst/>
            <a:rect l="l" t="t" r="r" b="b"/>
            <a:pathLst>
              <a:path w="10698643" h="5845336">
                <a:moveTo>
                  <a:pt x="0" y="0"/>
                </a:moveTo>
                <a:lnTo>
                  <a:pt x="10698643" y="0"/>
                </a:lnTo>
                <a:lnTo>
                  <a:pt x="10698643" y="5845336"/>
                </a:lnTo>
                <a:lnTo>
                  <a:pt x="0" y="5845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8709667" y="7846279"/>
            <a:ext cx="630463" cy="879727"/>
            <a:chOff x="0" y="0"/>
            <a:chExt cx="812800" cy="11341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134154"/>
            </a:xfrm>
            <a:custGeom>
              <a:avLst/>
              <a:gdLst/>
              <a:ahLst/>
              <a:cxnLst/>
              <a:rect l="l" t="t" r="r" b="b"/>
              <a:pathLst>
                <a:path w="812800" h="1134154">
                  <a:moveTo>
                    <a:pt x="406400" y="0"/>
                  </a:moveTo>
                  <a:cubicBezTo>
                    <a:pt x="181951" y="0"/>
                    <a:pt x="0" y="253889"/>
                    <a:pt x="0" y="567077"/>
                  </a:cubicBezTo>
                  <a:cubicBezTo>
                    <a:pt x="0" y="880265"/>
                    <a:pt x="181951" y="1134154"/>
                    <a:pt x="406400" y="1134154"/>
                  </a:cubicBezTo>
                  <a:cubicBezTo>
                    <a:pt x="630849" y="1134154"/>
                    <a:pt x="812800" y="880265"/>
                    <a:pt x="812800" y="567077"/>
                  </a:cubicBezTo>
                  <a:cubicBezTo>
                    <a:pt x="812800" y="2538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A40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87277"/>
              <a:ext cx="660400" cy="94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2719213" y="5486875"/>
            <a:ext cx="401360" cy="361224"/>
          </a:xfrm>
          <a:custGeom>
            <a:avLst/>
            <a:gdLst/>
            <a:ahLst/>
            <a:cxnLst/>
            <a:rect l="l" t="t" r="r" b="b"/>
            <a:pathLst>
              <a:path w="401360" h="361224">
                <a:moveTo>
                  <a:pt x="0" y="0"/>
                </a:moveTo>
                <a:lnTo>
                  <a:pt x="401360" y="0"/>
                </a:lnTo>
                <a:lnTo>
                  <a:pt x="401360" y="361224"/>
                </a:lnTo>
                <a:lnTo>
                  <a:pt x="0" y="361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2678895" y="2309344"/>
            <a:ext cx="401360" cy="361224"/>
          </a:xfrm>
          <a:custGeom>
            <a:avLst/>
            <a:gdLst/>
            <a:ahLst/>
            <a:cxnLst/>
            <a:rect l="l" t="t" r="r" b="b"/>
            <a:pathLst>
              <a:path w="401360" h="361224">
                <a:moveTo>
                  <a:pt x="0" y="0"/>
                </a:moveTo>
                <a:lnTo>
                  <a:pt x="401360" y="0"/>
                </a:lnTo>
                <a:lnTo>
                  <a:pt x="401360" y="361224"/>
                </a:lnTo>
                <a:lnTo>
                  <a:pt x="0" y="361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740481" y="3889363"/>
            <a:ext cx="339774" cy="339349"/>
          </a:xfrm>
          <a:custGeom>
            <a:avLst/>
            <a:gdLst/>
            <a:ahLst/>
            <a:cxnLst/>
            <a:rect l="l" t="t" r="r" b="b"/>
            <a:pathLst>
              <a:path w="339774" h="339349">
                <a:moveTo>
                  <a:pt x="0" y="0"/>
                </a:moveTo>
                <a:lnTo>
                  <a:pt x="339774" y="0"/>
                </a:lnTo>
                <a:lnTo>
                  <a:pt x="339774" y="339349"/>
                </a:lnTo>
                <a:lnTo>
                  <a:pt x="0" y="339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171542" y="909955"/>
            <a:ext cx="11138102" cy="63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29"/>
              </a:lnSpc>
              <a:spcBef>
                <a:spcPct val="0"/>
              </a:spcBef>
            </a:pPr>
            <a:r>
              <a:rPr lang="en-US" sz="3592" spc="-71">
                <a:solidFill>
                  <a:srgbClr val="283035"/>
                </a:solidFill>
                <a:latin typeface="Cambria Bold"/>
              </a:rPr>
              <a:t>Regression Results Interpretation (with moderators)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55888" y="2200196"/>
            <a:ext cx="4240073" cy="11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97"/>
              </a:lnSpc>
            </a:pPr>
            <a:r>
              <a:rPr lang="en-US" sz="2244" spc="219">
                <a:solidFill>
                  <a:srgbClr val="231F20"/>
                </a:solidFill>
                <a:latin typeface="Montserrat Classic Bold"/>
              </a:rPr>
              <a:t>Affluence Level:</a:t>
            </a:r>
            <a:r>
              <a:rPr lang="en-US" sz="2244" spc="219">
                <a:solidFill>
                  <a:srgbClr val="231F20"/>
                </a:solidFill>
                <a:latin typeface="Montserrat Classic"/>
              </a:rPr>
              <a:t> statistically significant </a:t>
            </a:r>
            <a:r>
              <a:rPr lang="en-US" sz="2244" spc="219">
                <a:solidFill>
                  <a:srgbClr val="FFA40B"/>
                </a:solidFill>
                <a:latin typeface="Montserrat Classic"/>
              </a:rPr>
              <a:t>amplifying</a:t>
            </a:r>
            <a:r>
              <a:rPr lang="en-US" sz="2244" spc="219">
                <a:solidFill>
                  <a:srgbClr val="231F20"/>
                </a:solidFill>
                <a:latin typeface="Montserrat Classic"/>
              </a:rPr>
              <a:t> affect;</a:t>
            </a:r>
          </a:p>
        </p:txBody>
      </p:sp>
      <p:sp>
        <p:nvSpPr>
          <p:cNvPr id="21" name="AutoShape 21"/>
          <p:cNvSpPr/>
          <p:nvPr/>
        </p:nvSpPr>
        <p:spPr>
          <a:xfrm flipH="1">
            <a:off x="8856263" y="8516456"/>
            <a:ext cx="3329557" cy="0"/>
          </a:xfrm>
          <a:prstGeom prst="line">
            <a:avLst/>
          </a:prstGeom>
          <a:ln w="57150" cap="flat">
            <a:solidFill>
              <a:srgbClr val="EF9F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 flipH="1">
            <a:off x="6010573" y="3358564"/>
            <a:ext cx="1302924" cy="25654"/>
          </a:xfrm>
          <a:prstGeom prst="line">
            <a:avLst/>
          </a:prstGeom>
          <a:ln w="38100" cap="flat">
            <a:solidFill>
              <a:srgbClr val="EF9F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 flipH="1">
            <a:off x="7552776" y="4004815"/>
            <a:ext cx="1302924" cy="25654"/>
          </a:xfrm>
          <a:prstGeom prst="line">
            <a:avLst/>
          </a:prstGeom>
          <a:ln w="38100" cap="flat">
            <a:solidFill>
              <a:srgbClr val="EF9F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 flipH="1">
            <a:off x="9808770" y="4639349"/>
            <a:ext cx="1302924" cy="25654"/>
          </a:xfrm>
          <a:prstGeom prst="line">
            <a:avLst/>
          </a:prstGeom>
          <a:ln w="38100" cap="flat">
            <a:solidFill>
              <a:srgbClr val="EF9F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3255888" y="5415469"/>
            <a:ext cx="4240073" cy="193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97"/>
              </a:lnSpc>
            </a:pPr>
            <a:r>
              <a:rPr lang="en-US" sz="2244" spc="219">
                <a:solidFill>
                  <a:srgbClr val="231F20"/>
                </a:solidFill>
                <a:latin typeface="Montserrat Classic Bold"/>
              </a:rPr>
              <a:t>Mealtime Distribution: </a:t>
            </a:r>
            <a:r>
              <a:rPr lang="en-US" sz="2244" spc="219">
                <a:solidFill>
                  <a:srgbClr val="FFA40B"/>
                </a:solidFill>
                <a:latin typeface="Montserrat Classic"/>
              </a:rPr>
              <a:t>lunch</a:t>
            </a:r>
            <a:r>
              <a:rPr lang="en-US" sz="2244" spc="219">
                <a:solidFill>
                  <a:srgbClr val="231F20"/>
                </a:solidFill>
                <a:latin typeface="Montserrat Classic"/>
              </a:rPr>
              <a:t> rush-hour stores are more vulnerable to the adverse impact on upselling ability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55888" y="3760918"/>
            <a:ext cx="4240073" cy="11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97"/>
              </a:lnSpc>
            </a:pPr>
            <a:r>
              <a:rPr lang="en-US" sz="2244" spc="219">
                <a:solidFill>
                  <a:srgbClr val="231F20"/>
                </a:solidFill>
                <a:latin typeface="Montserrat Classic Bold"/>
              </a:rPr>
              <a:t>Party Size:</a:t>
            </a:r>
            <a:r>
              <a:rPr lang="en-US" sz="2244" spc="219">
                <a:solidFill>
                  <a:srgbClr val="231F20"/>
                </a:solidFill>
                <a:latin typeface="Montserrat Classic"/>
              </a:rPr>
              <a:t> not a statistically significant factor;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96713" y="0"/>
            <a:ext cx="7032502" cy="6384588"/>
            <a:chOff x="0" y="0"/>
            <a:chExt cx="9376670" cy="8512784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t="15954" b="15954"/>
            <a:stretch>
              <a:fillRect/>
            </a:stretch>
          </p:blipFill>
          <p:spPr>
            <a:xfrm>
              <a:off x="0" y="0"/>
              <a:ext cx="9376670" cy="8512784"/>
            </a:xfrm>
            <a:prstGeom prst="rect">
              <a:avLst/>
            </a:prstGeom>
          </p:spPr>
        </p:pic>
      </p:grpSp>
      <p:sp>
        <p:nvSpPr>
          <p:cNvPr id="5" name="Freeform 5"/>
          <p:cNvSpPr/>
          <p:nvPr/>
        </p:nvSpPr>
        <p:spPr>
          <a:xfrm>
            <a:off x="16907877" y="905702"/>
            <a:ext cx="351423" cy="245996"/>
          </a:xfrm>
          <a:custGeom>
            <a:avLst/>
            <a:gdLst/>
            <a:ahLst/>
            <a:cxnLst/>
            <a:rect l="l" t="t" r="r" b="b"/>
            <a:pathLst>
              <a:path w="351423" h="245996">
                <a:moveTo>
                  <a:pt x="0" y="0"/>
                </a:moveTo>
                <a:lnTo>
                  <a:pt x="351423" y="0"/>
                </a:lnTo>
                <a:lnTo>
                  <a:pt x="351423" y="245996"/>
                </a:lnTo>
                <a:lnTo>
                  <a:pt x="0" y="24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-5400000">
            <a:off x="16462091" y="1014412"/>
            <a:ext cx="377098" cy="0"/>
          </a:xfrm>
          <a:prstGeom prst="line">
            <a:avLst/>
          </a:prstGeom>
          <a:ln w="28575" cap="flat">
            <a:solidFill>
              <a:srgbClr val="AB72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48953"/>
            <a:ext cx="781050" cy="202745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hlinkClick r:id="rId5" action="ppaction://hlinksldjump"/>
          </p:cNvPr>
          <p:cNvSpPr/>
          <p:nvPr/>
        </p:nvSpPr>
        <p:spPr>
          <a:xfrm>
            <a:off x="9522242" y="3010701"/>
            <a:ext cx="1408963" cy="1408963"/>
          </a:xfrm>
          <a:custGeom>
            <a:avLst/>
            <a:gdLst/>
            <a:ahLst/>
            <a:cxnLst/>
            <a:rect l="l" t="t" r="r" b="b"/>
            <a:pathLst>
              <a:path w="1408963" h="1408963">
                <a:moveTo>
                  <a:pt x="0" y="0"/>
                </a:moveTo>
                <a:lnTo>
                  <a:pt x="1408963" y="0"/>
                </a:lnTo>
                <a:lnTo>
                  <a:pt x="1408963" y="1408963"/>
                </a:lnTo>
                <a:lnTo>
                  <a:pt x="0" y="14089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522242" y="6072572"/>
            <a:ext cx="1506631" cy="1241088"/>
          </a:xfrm>
          <a:custGeom>
            <a:avLst/>
            <a:gdLst/>
            <a:ahLst/>
            <a:cxnLst/>
            <a:rect l="l" t="t" r="r" b="b"/>
            <a:pathLst>
              <a:path w="1506631" h="1241088">
                <a:moveTo>
                  <a:pt x="0" y="0"/>
                </a:moveTo>
                <a:lnTo>
                  <a:pt x="1506632" y="0"/>
                </a:lnTo>
                <a:lnTo>
                  <a:pt x="1506632" y="1241088"/>
                </a:lnTo>
                <a:lnTo>
                  <a:pt x="0" y="1241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496713" y="6662650"/>
            <a:ext cx="7118339" cy="2595650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452924" y="6888528"/>
            <a:ext cx="5120080" cy="169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23"/>
              </a:lnSpc>
            </a:pPr>
            <a:r>
              <a:rPr lang="en-US" sz="4764">
                <a:solidFill>
                  <a:srgbClr val="FFFFFF"/>
                </a:solidFill>
                <a:latin typeface="The Seasons"/>
              </a:rPr>
              <a:t>Managerial </a:t>
            </a:r>
          </a:p>
          <a:p>
            <a:pPr>
              <a:lnSpc>
                <a:spcPts val="6623"/>
              </a:lnSpc>
            </a:pPr>
            <a:r>
              <a:rPr lang="en-US" sz="4764">
                <a:solidFill>
                  <a:srgbClr val="FFFFFF"/>
                </a:solidFill>
                <a:latin typeface="The Seasons"/>
              </a:rPr>
              <a:t>Implementations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26788" y="2403591"/>
            <a:ext cx="5423853" cy="5556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endParaRPr/>
          </a:p>
          <a:p>
            <a:pPr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 Bold"/>
              </a:rPr>
              <a:t>Focus on more affluent customer segments:</a:t>
            </a:r>
            <a:r>
              <a:rPr lang="en-US" sz="2100">
                <a:solidFill>
                  <a:srgbClr val="FFFFFF"/>
                </a:solidFill>
                <a:latin typeface="Montserrat"/>
              </a:rPr>
              <a:t> tailor their online offerings and marketing efforts, emphasising quality and exclusivity that align with their higher spending power</a:t>
            </a:r>
          </a:p>
          <a:p>
            <a:pPr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Montserrat"/>
            </a:endParaRPr>
          </a:p>
          <a:p>
            <a:pPr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Montserrat"/>
            </a:endParaRPr>
          </a:p>
          <a:p>
            <a:pPr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Montserrat"/>
            </a:endParaRPr>
          </a:p>
          <a:p>
            <a:pPr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Montserrat"/>
            </a:endParaRPr>
          </a:p>
          <a:p>
            <a:pPr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 Bold"/>
              </a:rPr>
              <a:t>Understanding the ebb and flow of customer traffic: </a:t>
            </a:r>
            <a:r>
              <a:rPr lang="en-US" sz="2100">
                <a:solidFill>
                  <a:srgbClr val="FFFFFF"/>
                </a:solidFill>
                <a:latin typeface="Montserrat"/>
              </a:rPr>
              <a:t>deploy targeted marketing and promotions during these peak times</a:t>
            </a:r>
          </a:p>
          <a:p>
            <a:pPr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342667" y="1750120"/>
            <a:ext cx="8326077" cy="537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19"/>
              </a:lnSpc>
            </a:pPr>
            <a:r>
              <a:rPr lang="en-US" sz="2999">
                <a:solidFill>
                  <a:srgbClr val="EF9F22"/>
                </a:solidFill>
                <a:latin typeface="The Seasons Bold"/>
              </a:rPr>
              <a:t>Transforming challenges into opportunities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7423" y="2442361"/>
            <a:ext cx="6035775" cy="5226709"/>
            <a:chOff x="0" y="0"/>
            <a:chExt cx="4282440" cy="370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>
                <a:alphaModFix amt="74000"/>
              </a:blip>
              <a:stretch>
                <a:fillRect l="-15109" r="-1510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13854" y="7901391"/>
            <a:ext cx="3332562" cy="2885849"/>
            <a:chOff x="0" y="0"/>
            <a:chExt cx="4282440" cy="3708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>
                <a:alphaModFix amt="74000"/>
              </a:blip>
              <a:stretch>
                <a:fillRect l="-14946" r="-1494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749164" y="6108640"/>
            <a:ext cx="3811618" cy="3300690"/>
            <a:chOff x="0" y="0"/>
            <a:chExt cx="4282440" cy="3708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>
                <a:alphaModFix amt="74000"/>
              </a:blip>
              <a:stretch>
                <a:fillRect l="-14926" r="-149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950918" y="1645412"/>
            <a:ext cx="3456681" cy="2970585"/>
            <a:chOff x="0" y="0"/>
            <a:chExt cx="812800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DDD7C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70" y="6241490"/>
            <a:ext cx="2470591" cy="2123164"/>
            <a:chOff x="0" y="0"/>
            <a:chExt cx="812800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DDD7C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81799" y="8966396"/>
            <a:ext cx="1728340" cy="1485293"/>
            <a:chOff x="0" y="0"/>
            <a:chExt cx="812800" cy="698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DDD7C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 flipV="1">
            <a:off x="-321475" y="-3725695"/>
            <a:ext cx="5654476" cy="5555523"/>
          </a:xfrm>
          <a:custGeom>
            <a:avLst/>
            <a:gdLst/>
            <a:ahLst/>
            <a:cxnLst/>
            <a:rect l="l" t="t" r="r" b="b"/>
            <a:pathLst>
              <a:path w="5654476" h="5555523">
                <a:moveTo>
                  <a:pt x="5654476" y="5555523"/>
                </a:moveTo>
                <a:lnTo>
                  <a:pt x="0" y="5555523"/>
                </a:lnTo>
                <a:lnTo>
                  <a:pt x="0" y="0"/>
                </a:lnTo>
                <a:lnTo>
                  <a:pt x="5654476" y="0"/>
                </a:lnTo>
                <a:lnTo>
                  <a:pt x="5654476" y="55555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7662554" y="1030137"/>
            <a:ext cx="8326077" cy="537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19"/>
              </a:lnSpc>
            </a:pPr>
            <a:r>
              <a:rPr lang="en-US" sz="2999">
                <a:solidFill>
                  <a:srgbClr val="EF9F22"/>
                </a:solidFill>
                <a:latin typeface="The Seasons Bold"/>
              </a:rPr>
              <a:t>Reseach Limitations: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95901" y="1629275"/>
            <a:ext cx="9398690" cy="295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96" lvl="1" indent="-228648">
              <a:lnSpc>
                <a:spcPts val="2965"/>
              </a:lnSpc>
              <a:buFont typeface="Arial"/>
              <a:buChar char="•"/>
            </a:pPr>
            <a:r>
              <a:rPr lang="en-US" sz="2118">
                <a:solidFill>
                  <a:srgbClr val="FFFFFF"/>
                </a:solidFill>
                <a:latin typeface="Montserrat"/>
              </a:rPr>
              <a:t>Used data from just one QSR chain, so findings might not apply to all restaurant types or global markets;</a:t>
            </a:r>
          </a:p>
          <a:p>
            <a:pPr>
              <a:lnSpc>
                <a:spcPts val="2965"/>
              </a:lnSpc>
            </a:pPr>
            <a:endParaRPr lang="en-US" sz="2118">
              <a:solidFill>
                <a:srgbClr val="FFFFFF"/>
              </a:solidFill>
              <a:latin typeface="Montserrat"/>
            </a:endParaRPr>
          </a:p>
          <a:p>
            <a:pPr marL="457296" lvl="1" indent="-228648">
              <a:lnSpc>
                <a:spcPts val="2965"/>
              </a:lnSpc>
              <a:buFont typeface="Arial"/>
              <a:buChar char="•"/>
            </a:pPr>
            <a:r>
              <a:rPr lang="en-US" sz="2118">
                <a:solidFill>
                  <a:srgbClr val="FFFFFF"/>
                </a:solidFill>
                <a:latin typeface="Montserrat"/>
              </a:rPr>
              <a:t>Limited data restricted the analysis of certain customer traits;</a:t>
            </a:r>
          </a:p>
          <a:p>
            <a:pPr>
              <a:lnSpc>
                <a:spcPts val="2965"/>
              </a:lnSpc>
            </a:pPr>
            <a:endParaRPr lang="en-US" sz="2118">
              <a:solidFill>
                <a:srgbClr val="FFFFFF"/>
              </a:solidFill>
              <a:latin typeface="Montserrat"/>
            </a:endParaRPr>
          </a:p>
          <a:p>
            <a:pPr marL="457296" lvl="1" indent="-228648">
              <a:lnSpc>
                <a:spcPts val="2965"/>
              </a:lnSpc>
              <a:buFont typeface="Arial"/>
              <a:buChar char="•"/>
            </a:pPr>
            <a:r>
              <a:rPr lang="en-US" sz="2118">
                <a:solidFill>
                  <a:srgbClr val="FFFFFF"/>
                </a:solidFill>
                <a:latin typeface="Montserrat"/>
              </a:rPr>
              <a:t>While attempts were made to control for external factors like weather and events, some residual effects might still influence the study's conclusions.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32426" y="5070540"/>
            <a:ext cx="3272345" cy="537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19"/>
              </a:lnSpc>
            </a:pPr>
            <a:r>
              <a:rPr lang="en-US" sz="2999">
                <a:solidFill>
                  <a:srgbClr val="EF9F22"/>
                </a:solidFill>
                <a:latin typeface="The Seasons Bold"/>
              </a:rPr>
              <a:t>Steps Forward: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95901" y="5645265"/>
            <a:ext cx="9551304" cy="3699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96" lvl="1" indent="-228648">
              <a:lnSpc>
                <a:spcPts val="2965"/>
              </a:lnSpc>
              <a:buFont typeface="Arial"/>
              <a:buChar char="•"/>
            </a:pPr>
            <a:r>
              <a:rPr lang="en-US" sz="2118">
                <a:solidFill>
                  <a:srgbClr val="FFFFFF"/>
                </a:solidFill>
                <a:latin typeface="Montserrat"/>
              </a:rPr>
              <a:t>Include more restaurant types and locations to confirm if the findings apply universally;</a:t>
            </a:r>
          </a:p>
          <a:p>
            <a:pPr>
              <a:lnSpc>
                <a:spcPts val="2965"/>
              </a:lnSpc>
            </a:pPr>
            <a:endParaRPr lang="en-US" sz="2118">
              <a:solidFill>
                <a:srgbClr val="FFFFFF"/>
              </a:solidFill>
              <a:latin typeface="Montserrat"/>
            </a:endParaRPr>
          </a:p>
          <a:p>
            <a:pPr marL="457296" lvl="1" indent="-228648">
              <a:lnSpc>
                <a:spcPts val="2965"/>
              </a:lnSpc>
              <a:buFont typeface="Arial"/>
              <a:buChar char="•"/>
            </a:pPr>
            <a:r>
              <a:rPr lang="en-US" sz="2118">
                <a:solidFill>
                  <a:srgbClr val="FFFFFF"/>
                </a:solidFill>
                <a:latin typeface="Montserrat"/>
              </a:rPr>
              <a:t>Additional studies on customer traits and other factors could deepen understanding of upselling strategies;</a:t>
            </a:r>
          </a:p>
          <a:p>
            <a:pPr>
              <a:lnSpc>
                <a:spcPts val="2965"/>
              </a:lnSpc>
            </a:pPr>
            <a:endParaRPr lang="en-US" sz="2118">
              <a:solidFill>
                <a:srgbClr val="FFFFFF"/>
              </a:solidFill>
              <a:latin typeface="Montserrat"/>
            </a:endParaRPr>
          </a:p>
          <a:p>
            <a:pPr marL="457296" lvl="1" indent="-228648">
              <a:lnSpc>
                <a:spcPts val="2965"/>
              </a:lnSpc>
              <a:buFont typeface="Arial"/>
              <a:buChar char="•"/>
            </a:pPr>
            <a:r>
              <a:rPr lang="en-US" sz="2118">
                <a:solidFill>
                  <a:srgbClr val="FFFFFF"/>
                </a:solidFill>
                <a:latin typeface="Montserrat"/>
              </a:rPr>
              <a:t>There is a need for experimental or long-term studies to better understand causality and the lasting impacts of OFD platform dependence on restaurant profitability.</a:t>
            </a:r>
          </a:p>
          <a:p>
            <a:pPr>
              <a:lnSpc>
                <a:spcPts val="2965"/>
              </a:lnSpc>
            </a:pPr>
            <a:endParaRPr lang="en-US" sz="2118">
              <a:solidFill>
                <a:srgbClr val="FFFFFF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907877" y="905702"/>
            <a:ext cx="351423" cy="245996"/>
          </a:xfrm>
          <a:custGeom>
            <a:avLst/>
            <a:gdLst/>
            <a:ahLst/>
            <a:cxnLst/>
            <a:rect l="l" t="t" r="r" b="b"/>
            <a:pathLst>
              <a:path w="351423" h="245996">
                <a:moveTo>
                  <a:pt x="0" y="0"/>
                </a:moveTo>
                <a:lnTo>
                  <a:pt x="351423" y="0"/>
                </a:lnTo>
                <a:lnTo>
                  <a:pt x="351423" y="245996"/>
                </a:lnTo>
                <a:lnTo>
                  <a:pt x="0" y="24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-5400000">
            <a:off x="16462091" y="1014412"/>
            <a:ext cx="377098" cy="0"/>
          </a:xfrm>
          <a:prstGeom prst="line">
            <a:avLst/>
          </a:prstGeom>
          <a:ln w="28575" cap="flat">
            <a:solidFill>
              <a:srgbClr val="AB722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0" y="948953"/>
            <a:ext cx="781050" cy="202745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2333935" y="5665388"/>
            <a:ext cx="5954065" cy="4612446"/>
          </a:xfrm>
          <a:prstGeom prst="rect">
            <a:avLst/>
          </a:prstGeom>
          <a:solidFill>
            <a:srgbClr val="AB722C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144000" y="1878128"/>
            <a:ext cx="8115300" cy="7380172"/>
            <a:chOff x="0" y="0"/>
            <a:chExt cx="10820400" cy="984023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rcRect l="13369" r="13369"/>
            <a:stretch>
              <a:fillRect/>
            </a:stretch>
          </p:blipFill>
          <p:spPr>
            <a:xfrm>
              <a:off x="0" y="0"/>
              <a:ext cx="10820400" cy="9840230"/>
            </a:xfrm>
            <a:prstGeom prst="rect">
              <a:avLst/>
            </a:prstGeom>
          </p:spPr>
        </p:pic>
      </p:grpSp>
      <p:sp>
        <p:nvSpPr>
          <p:cNvPr id="9" name="TextBox 9"/>
          <p:cNvSpPr txBox="1"/>
          <p:nvPr/>
        </p:nvSpPr>
        <p:spPr>
          <a:xfrm>
            <a:off x="2587876" y="3657189"/>
            <a:ext cx="10480507" cy="169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528"/>
              </a:lnSpc>
            </a:pPr>
            <a:r>
              <a:rPr lang="en-US" sz="12008">
                <a:solidFill>
                  <a:srgbClr val="FFFFFF"/>
                </a:solidFill>
                <a:latin typeface="The Seasons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87876" y="3137505"/>
            <a:ext cx="7132686" cy="36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2"/>
              </a:lnSpc>
            </a:pPr>
            <a:r>
              <a:rPr lang="en-US" sz="2100" spc="873">
                <a:solidFill>
                  <a:srgbClr val="AB722C"/>
                </a:solidFill>
                <a:latin typeface="Montserrat Medium"/>
              </a:rPr>
              <a:t>PRESENTATION 2024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87876" y="5290044"/>
            <a:ext cx="9361975" cy="4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46"/>
              </a:lnSpc>
            </a:pPr>
            <a:r>
              <a:rPr lang="en-US" sz="2899" spc="2180">
                <a:solidFill>
                  <a:srgbClr val="FFFFFF"/>
                </a:solidFill>
                <a:latin typeface="Montserrat Medium"/>
              </a:rPr>
              <a:t>FOR ALL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991</Words>
  <Application>Microsoft Macintosh PowerPoint</Application>
  <PresentationFormat>Custom</PresentationFormat>
  <Paragraphs>164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2" baseType="lpstr">
      <vt:lpstr>The Seasons Bold</vt:lpstr>
      <vt:lpstr>The Seasons</vt:lpstr>
      <vt:lpstr>Cambria Bold</vt:lpstr>
      <vt:lpstr>Codec Pro ExtraBold</vt:lpstr>
      <vt:lpstr>Open Sauce Bold</vt:lpstr>
      <vt:lpstr>Open Sauce</vt:lpstr>
      <vt:lpstr>Montserrat Classic Bold</vt:lpstr>
      <vt:lpstr>Arial</vt:lpstr>
      <vt:lpstr>Montserrat Bold</vt:lpstr>
      <vt:lpstr>Montserrat Medium</vt:lpstr>
      <vt:lpstr>Montserrat Classic</vt:lpstr>
      <vt:lpstr>Montserrat Italics</vt:lpstr>
      <vt:lpstr>Montserrat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Capstone Presentation</dc:title>
  <cp:lastModifiedBy>shi jingwen</cp:lastModifiedBy>
  <cp:revision>2</cp:revision>
  <dcterms:created xsi:type="dcterms:W3CDTF">2006-08-16T00:00:00Z</dcterms:created>
  <dcterms:modified xsi:type="dcterms:W3CDTF">2026-04-23T14:39:47Z</dcterms:modified>
  <dc:identifier>DAGBbBNYhLA</dc:identifier>
</cp:coreProperties>
</file>